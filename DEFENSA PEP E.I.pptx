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3"/>
    <p:sldId id="506" r:id="rId4"/>
    <p:sldId id="581" r:id="rId5"/>
    <p:sldId id="582" r:id="rId6"/>
    <p:sldId id="583" r:id="rId7"/>
    <p:sldId id="584" r:id="rId8"/>
    <p:sldId id="585" r:id="rId9"/>
    <p:sldId id="586" r:id="rId10"/>
    <p:sldId id="587" r:id="rId11"/>
    <p:sldId id="588" r:id="rId12"/>
    <p:sldId id="602" r:id="rId13"/>
    <p:sldId id="590" r:id="rId14"/>
    <p:sldId id="600" r:id="rId15"/>
    <p:sldId id="603" r:id="rId16"/>
    <p:sldId id="601" r:id="rId17"/>
    <p:sldId id="591" r:id="rId18"/>
    <p:sldId id="592" r:id="rId19"/>
    <p:sldId id="593" r:id="rId20"/>
    <p:sldId id="59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12B2"/>
    <a:srgbClr val="EEF2E2"/>
    <a:srgbClr val="F8F8F8"/>
    <a:srgbClr val="FF99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382" autoAdjust="0"/>
    <p:restoredTop sz="94660"/>
  </p:normalViewPr>
  <p:slideViewPr>
    <p:cSldViewPr snapToGrid="0">
      <p:cViewPr varScale="1">
        <p:scale>
          <a:sx n="70" d="100"/>
          <a:sy n="70" d="100"/>
        </p:scale>
        <p:origin x="4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2E2D3-D80C-4BA0-8EE7-2E1962B5C1D6}" type="datetimeFigureOut">
              <a:rPr lang="en-US" smtClean="0"/>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C571E8-D618-4946-A892-7ACFAC24A0F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D5AA92E6-FD8D-4158-8B1B-547DD7EF93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BF134A8-8603-4976-B1E7-C6C31D6D690D}"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10"/>
          </p:nvPr>
        </p:nvSpPr>
        <p:spPr/>
        <p:txBody>
          <a:bodyPr/>
          <a:lstStyle/>
          <a:p>
            <a:fld id="{D5AA92E6-FD8D-4158-8B1B-547DD7EF93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BF134A8-8603-4976-B1E7-C6C31D6D690D}"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endParaRPr lang="es-ES"/>
          </a:p>
        </p:txBody>
      </p:sp>
      <p:sp>
        <p:nvSpPr>
          <p:cNvPr id="4" name="Date Placeholder 3"/>
          <p:cNvSpPr>
            <a:spLocks noGrp="1"/>
          </p:cNvSpPr>
          <p:nvPr>
            <p:ph type="dt" sz="half" idx="10"/>
          </p:nvPr>
        </p:nvSpPr>
        <p:spPr/>
        <p:txBody>
          <a:bodyPr/>
          <a:lstStyle/>
          <a:p>
            <a:fld id="{D5AA92E6-FD8D-4158-8B1B-547DD7EF93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BF134A8-8603-4976-B1E7-C6C31D6D690D}"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5" name="Date Placeholder 4"/>
          <p:cNvSpPr>
            <a:spLocks noGrp="1"/>
          </p:cNvSpPr>
          <p:nvPr>
            <p:ph type="dt" sz="half" idx="10"/>
          </p:nvPr>
        </p:nvSpPr>
        <p:spPr/>
        <p:txBody>
          <a:bodyPr/>
          <a:lstStyle/>
          <a:p>
            <a:fld id="{D5AA92E6-FD8D-4158-8B1B-547DD7EF93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BF134A8-8603-4976-B1E7-C6C31D6D690D}"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endParaRPr lang="es-E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endParaRPr lang="es-E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7" name="Date Placeholder 6"/>
          <p:cNvSpPr>
            <a:spLocks noGrp="1"/>
          </p:cNvSpPr>
          <p:nvPr>
            <p:ph type="dt" sz="half" idx="10"/>
          </p:nvPr>
        </p:nvSpPr>
        <p:spPr/>
        <p:txBody>
          <a:bodyPr/>
          <a:lstStyle/>
          <a:p>
            <a:fld id="{D5AA92E6-FD8D-4158-8B1B-547DD7EF93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BF134A8-8603-4976-B1E7-C6C31D6D690D}"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5AA92E6-FD8D-4158-8B1B-547DD7EF93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BF134A8-8603-4976-B1E7-C6C31D6D690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AA92E6-FD8D-4158-8B1B-547DD7EF93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BF134A8-8603-4976-B1E7-C6C31D6D690D}"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endParaRPr lang="es-ES"/>
          </a:p>
        </p:txBody>
      </p:sp>
      <p:sp>
        <p:nvSpPr>
          <p:cNvPr id="5" name="Date Placeholder 4"/>
          <p:cNvSpPr>
            <a:spLocks noGrp="1"/>
          </p:cNvSpPr>
          <p:nvPr>
            <p:ph type="dt" sz="half" idx="10"/>
          </p:nvPr>
        </p:nvSpPr>
        <p:spPr/>
        <p:txBody>
          <a:bodyPr/>
          <a:lstStyle/>
          <a:p>
            <a:fld id="{D5AA92E6-FD8D-4158-8B1B-547DD7EF93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BF134A8-8603-4976-B1E7-C6C31D6D690D}"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endParaRPr lang="es-ES"/>
          </a:p>
        </p:txBody>
      </p:sp>
      <p:sp>
        <p:nvSpPr>
          <p:cNvPr id="5" name="Date Placeholder 4"/>
          <p:cNvSpPr>
            <a:spLocks noGrp="1"/>
          </p:cNvSpPr>
          <p:nvPr>
            <p:ph type="dt" sz="half" idx="10"/>
          </p:nvPr>
        </p:nvSpPr>
        <p:spPr/>
        <p:txBody>
          <a:bodyPr/>
          <a:lstStyle/>
          <a:p>
            <a:fld id="{D5AA92E6-FD8D-4158-8B1B-547DD7EF93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BF134A8-8603-4976-B1E7-C6C31D6D690D}"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endParaRPr lang="es-ES"/>
          </a:p>
        </p:txBody>
      </p:sp>
      <p:sp>
        <p:nvSpPr>
          <p:cNvPr id="4" name="Date Placeholder 3"/>
          <p:cNvSpPr>
            <a:spLocks noGrp="1"/>
          </p:cNvSpPr>
          <p:nvPr>
            <p:ph type="dt" sz="half" idx="10"/>
          </p:nvPr>
        </p:nvSpPr>
        <p:spPr/>
        <p:txBody>
          <a:bodyPr/>
          <a:lstStyle/>
          <a:p>
            <a:fld id="{D5AA92E6-FD8D-4158-8B1B-547DD7EF93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BF134A8-8603-4976-B1E7-C6C31D6D690D}"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endParaRPr lang="es-E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endParaRPr lang="es-ES"/>
          </a:p>
        </p:txBody>
      </p:sp>
      <p:sp>
        <p:nvSpPr>
          <p:cNvPr id="4" name="Date Placeholder 3"/>
          <p:cNvSpPr>
            <a:spLocks noGrp="1"/>
          </p:cNvSpPr>
          <p:nvPr>
            <p:ph type="dt" sz="half" idx="10"/>
          </p:nvPr>
        </p:nvSpPr>
        <p:spPr/>
        <p:txBody>
          <a:bodyPr/>
          <a:lstStyle/>
          <a:p>
            <a:fld id="{D5AA92E6-FD8D-4158-8B1B-547DD7EF93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BF134A8-8603-4976-B1E7-C6C31D6D690D}" type="slidenum">
              <a:rPr lang="en-US" smtClean="0"/>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endParaRPr lang="es-ES"/>
          </a:p>
        </p:txBody>
      </p:sp>
      <p:sp>
        <p:nvSpPr>
          <p:cNvPr id="5" name="Date Placeholder 4"/>
          <p:cNvSpPr>
            <a:spLocks noGrp="1"/>
          </p:cNvSpPr>
          <p:nvPr>
            <p:ph type="dt" sz="half" idx="10"/>
          </p:nvPr>
        </p:nvSpPr>
        <p:spPr/>
        <p:txBody>
          <a:bodyPr/>
          <a:lstStyle/>
          <a:p>
            <a:fld id="{D5AA92E6-FD8D-4158-8B1B-547DD7EF93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BF134A8-8603-4976-B1E7-C6C31D6D690D}"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endParaRPr lang="es-E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endParaRPr lang="es-ES"/>
          </a:p>
        </p:txBody>
      </p:sp>
      <p:sp>
        <p:nvSpPr>
          <p:cNvPr id="5" name="Date Placeholder 4"/>
          <p:cNvSpPr>
            <a:spLocks noGrp="1"/>
          </p:cNvSpPr>
          <p:nvPr>
            <p:ph type="dt" sz="half" idx="10"/>
          </p:nvPr>
        </p:nvSpPr>
        <p:spPr/>
        <p:txBody>
          <a:bodyPr/>
          <a:lstStyle/>
          <a:p>
            <a:fld id="{D5AA92E6-FD8D-4158-8B1B-547DD7EF93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BF134A8-8603-4976-B1E7-C6C31D6D690D}" type="slidenum">
              <a:rPr lang="en-US" smtClean="0"/>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endParaRPr lang="es-E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endParaRPr lang="es-ES"/>
          </a:p>
        </p:txBody>
      </p:sp>
      <p:sp>
        <p:nvSpPr>
          <p:cNvPr id="5" name="Date Placeholder 4"/>
          <p:cNvSpPr>
            <a:spLocks noGrp="1"/>
          </p:cNvSpPr>
          <p:nvPr>
            <p:ph type="dt" sz="half" idx="10"/>
          </p:nvPr>
        </p:nvSpPr>
        <p:spPr/>
        <p:txBody>
          <a:bodyPr/>
          <a:lstStyle/>
          <a:p>
            <a:fld id="{D5AA92E6-FD8D-4158-8B1B-547DD7EF93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BF134A8-8603-4976-B1E7-C6C31D6D690D}"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10"/>
          </p:nvPr>
        </p:nvSpPr>
        <p:spPr/>
        <p:txBody>
          <a:bodyPr/>
          <a:lstStyle/>
          <a:p>
            <a:fld id="{D5AA92E6-FD8D-4158-8B1B-547DD7EF93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BF134A8-8603-4976-B1E7-C6C31D6D690D}"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10"/>
          </p:nvPr>
        </p:nvSpPr>
        <p:spPr/>
        <p:txBody>
          <a:bodyPr/>
          <a:lstStyle/>
          <a:p>
            <a:fld id="{D5AA92E6-FD8D-4158-8B1B-547DD7EF93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BF134A8-8603-4976-B1E7-C6C31D6D690D}"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Editar el estilo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5AA92E6-FD8D-4158-8B1B-547DD7EF9397}" type="datetimeFigureOut">
              <a:rPr lang="en-US" smtClean="0"/>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BF134A8-8603-4976-B1E7-C6C31D6D690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title"/>
          </p:nvPr>
        </p:nvSpPr>
        <p:spPr>
          <a:xfrm>
            <a:off x="687388" y="1252330"/>
            <a:ext cx="8915399" cy="2004695"/>
          </a:xfrm>
        </p:spPr>
        <p:txBody>
          <a:bodyPr>
            <a:normAutofit fontScale="90000"/>
          </a:bodyPr>
          <a:lstStyle/>
          <a:p>
            <a:r>
              <a:rPr lang="es-BO" sz="3600" b="1" dirty="0"/>
              <a:t>ELABORACION DE UN SITIO WEB PARA EL APOYO EN EL AREA DE CIENCIAS NATURALES/BIOLOGÍA DEDICADO AL CURSO DE 6TOA PRIMARIA DEL COLEGIO SANTA MARIA MAGDALENA POSTEL</a:t>
            </a:r>
            <a:br>
              <a:rPr lang="es-ES" dirty="0"/>
            </a:br>
            <a:endParaRPr lang="es-BO" dirty="0"/>
          </a:p>
        </p:txBody>
      </p:sp>
      <p:sp>
        <p:nvSpPr>
          <p:cNvPr id="7" name="Marcador de texto 6"/>
          <p:cNvSpPr>
            <a:spLocks noGrp="1"/>
          </p:cNvSpPr>
          <p:nvPr>
            <p:ph type="body" idx="1"/>
          </p:nvPr>
        </p:nvSpPr>
        <p:spPr>
          <a:xfrm>
            <a:off x="1166192" y="3021496"/>
            <a:ext cx="10338420" cy="3445565"/>
          </a:xfrm>
        </p:spPr>
        <p:txBody>
          <a:bodyPr>
            <a:normAutofit fontScale="32500" lnSpcReduction="20000"/>
          </a:bodyPr>
          <a:lstStyle/>
          <a:p>
            <a:pPr marL="6350" marR="1270" indent="-6350" algn="just">
              <a:lnSpc>
                <a:spcPct val="150000"/>
              </a:lnSpc>
              <a:spcAft>
                <a:spcPts val="1090"/>
              </a:spcAft>
            </a:pPr>
            <a:r>
              <a:rPr lang="es-BO" sz="4900" dirty="0">
                <a:solidFill>
                  <a:srgbClr val="000000"/>
                </a:solidFill>
                <a:effectLst/>
                <a:latin typeface="Arial" panose="020B0604020202020204" pitchFamily="34" charset="0"/>
                <a:ea typeface="Arial" panose="020B0604020202020204" pitchFamily="34" charset="0"/>
              </a:rPr>
              <a:t> </a:t>
            </a:r>
            <a:r>
              <a:rPr lang="es-BO" sz="4900" b="1" dirty="0">
                <a:solidFill>
                  <a:srgbClr val="000000"/>
                </a:solidFill>
                <a:effectLst/>
                <a:latin typeface="Arial" panose="020B0604020202020204" pitchFamily="34" charset="0"/>
                <a:ea typeface="Arial" panose="020B0604020202020204" pitchFamily="34" charset="0"/>
              </a:rPr>
              <a:t>                         ESTUDIANTE: 	</a:t>
            </a:r>
            <a:r>
              <a:rPr lang="es-BO" sz="4900" dirty="0">
                <a:solidFill>
                  <a:srgbClr val="000000"/>
                </a:solidFill>
                <a:effectLst/>
                <a:latin typeface="Arial" panose="020B0604020202020204" pitchFamily="34" charset="0"/>
                <a:ea typeface="Arial" panose="020B0604020202020204" pitchFamily="34" charset="0"/>
              </a:rPr>
              <a:t>Erik Rodolfo Pardo Antezana</a:t>
            </a:r>
            <a:endParaRPr lang="es-BO" sz="4900" dirty="0">
              <a:solidFill>
                <a:srgbClr val="000000"/>
              </a:solidFill>
              <a:effectLst/>
              <a:latin typeface="Arial" panose="020B0604020202020204" pitchFamily="34" charset="0"/>
              <a:ea typeface="Arial" panose="020B0604020202020204" pitchFamily="34" charset="0"/>
            </a:endParaRPr>
          </a:p>
          <a:p>
            <a:pPr marL="90170" marR="1270" indent="-6350" algn="just">
              <a:lnSpc>
                <a:spcPct val="112000"/>
              </a:lnSpc>
              <a:spcAft>
                <a:spcPts val="40"/>
              </a:spcAft>
            </a:pPr>
            <a:r>
              <a:rPr lang="es-BO" sz="4900" b="1" dirty="0">
                <a:solidFill>
                  <a:srgbClr val="000000"/>
                </a:solidFill>
                <a:effectLst/>
                <a:latin typeface="Arial" panose="020B0604020202020204" pitchFamily="34" charset="0"/>
                <a:ea typeface="Arial" panose="020B0604020202020204" pitchFamily="34" charset="0"/>
              </a:rPr>
              <a:t>								</a:t>
            </a:r>
            <a:r>
              <a:rPr lang="es-BO" sz="4900" dirty="0" err="1">
                <a:solidFill>
                  <a:srgbClr val="000000"/>
                </a:solidFill>
                <a:latin typeface="Arial" panose="020B0604020202020204" pitchFamily="34" charset="0"/>
                <a:ea typeface="Arial" panose="020B0604020202020204" pitchFamily="34" charset="0"/>
              </a:rPr>
              <a:t>I</a:t>
            </a:r>
            <a:r>
              <a:rPr lang="es-BO" sz="4900" dirty="0" err="1">
                <a:solidFill>
                  <a:srgbClr val="000000"/>
                </a:solidFill>
                <a:effectLst/>
                <a:latin typeface="Arial" panose="020B0604020202020204" pitchFamily="34" charset="0"/>
                <a:ea typeface="Arial" panose="020B0604020202020204" pitchFamily="34" charset="0"/>
              </a:rPr>
              <a:t>han</a:t>
            </a:r>
            <a:r>
              <a:rPr lang="es-BO" sz="4900" dirty="0">
                <a:solidFill>
                  <a:srgbClr val="000000"/>
                </a:solidFill>
                <a:effectLst/>
                <a:latin typeface="Arial" panose="020B0604020202020204" pitchFamily="34" charset="0"/>
                <a:ea typeface="Arial" panose="020B0604020202020204" pitchFamily="34" charset="0"/>
              </a:rPr>
              <a:t> Michael </a:t>
            </a:r>
            <a:r>
              <a:rPr lang="es-BO" sz="4900" dirty="0" err="1">
                <a:solidFill>
                  <a:srgbClr val="000000"/>
                </a:solidFill>
                <a:effectLst/>
                <a:latin typeface="Arial" panose="020B0604020202020204" pitchFamily="34" charset="0"/>
                <a:ea typeface="Arial" panose="020B0604020202020204" pitchFamily="34" charset="0"/>
              </a:rPr>
              <a:t>Cossio</a:t>
            </a:r>
            <a:r>
              <a:rPr lang="es-BO" sz="4900" dirty="0">
                <a:solidFill>
                  <a:srgbClr val="000000"/>
                </a:solidFill>
                <a:effectLst/>
                <a:latin typeface="Arial" panose="020B0604020202020204" pitchFamily="34" charset="0"/>
                <a:ea typeface="Arial" panose="020B0604020202020204" pitchFamily="34" charset="0"/>
              </a:rPr>
              <a:t> </a:t>
            </a:r>
            <a:r>
              <a:rPr lang="es-BO" sz="4900" dirty="0" err="1">
                <a:solidFill>
                  <a:srgbClr val="000000"/>
                </a:solidFill>
                <a:effectLst/>
                <a:latin typeface="Arial" panose="020B0604020202020204" pitchFamily="34" charset="0"/>
                <a:ea typeface="Arial" panose="020B0604020202020204" pitchFamily="34" charset="0"/>
              </a:rPr>
              <a:t>Mollo</a:t>
            </a:r>
            <a:endParaRPr lang="es-BO" sz="4900" dirty="0">
              <a:solidFill>
                <a:srgbClr val="000000"/>
              </a:solidFill>
              <a:effectLst/>
              <a:latin typeface="Arial" panose="020B0604020202020204" pitchFamily="34" charset="0"/>
              <a:ea typeface="Arial" panose="020B0604020202020204" pitchFamily="34" charset="0"/>
            </a:endParaRPr>
          </a:p>
          <a:p>
            <a:pPr marL="989330" marR="1270" indent="359410" algn="just">
              <a:lnSpc>
                <a:spcPct val="112000"/>
              </a:lnSpc>
              <a:spcAft>
                <a:spcPts val="40"/>
              </a:spcAft>
            </a:pPr>
            <a:r>
              <a:rPr lang="es-BO" sz="4900" dirty="0">
                <a:solidFill>
                  <a:srgbClr val="000000"/>
                </a:solidFill>
                <a:effectLst/>
                <a:latin typeface="Arial" panose="020B0604020202020204" pitchFamily="34" charset="0"/>
                <a:ea typeface="Arial" panose="020B0604020202020204" pitchFamily="34" charset="0"/>
              </a:rPr>
              <a:t> </a:t>
            </a:r>
            <a:endParaRPr lang="es-BO" sz="4900" dirty="0">
              <a:solidFill>
                <a:srgbClr val="000000"/>
              </a:solidFill>
              <a:effectLst/>
              <a:latin typeface="Arial" panose="020B0604020202020204" pitchFamily="34" charset="0"/>
              <a:ea typeface="Arial" panose="020B0604020202020204" pitchFamily="34" charset="0"/>
            </a:endParaRPr>
          </a:p>
          <a:p>
            <a:pPr marL="6350" marR="1270" indent="-6350" algn="ctr">
              <a:lnSpc>
                <a:spcPts val="1200"/>
              </a:lnSpc>
              <a:spcAft>
                <a:spcPts val="40"/>
              </a:spcAft>
            </a:pPr>
            <a:r>
              <a:rPr lang="es-BO" sz="4900" dirty="0">
                <a:solidFill>
                  <a:srgbClr val="000000"/>
                </a:solidFill>
                <a:effectLst/>
                <a:latin typeface="Arial" panose="020B0604020202020204" pitchFamily="34" charset="0"/>
                <a:ea typeface="Arial" panose="020B0604020202020204" pitchFamily="34" charset="0"/>
              </a:rPr>
              <a:t>PROYECTO DE EMPRENDIMIENTO PRODUCTIVO PRESENTADO PARA OPTAR EL GRADO</a:t>
            </a:r>
            <a:endParaRPr lang="es-BO" sz="4900" dirty="0">
              <a:solidFill>
                <a:srgbClr val="000000"/>
              </a:solidFill>
              <a:effectLst/>
              <a:latin typeface="Arial" panose="020B0604020202020204" pitchFamily="34" charset="0"/>
              <a:ea typeface="Arial" panose="020B0604020202020204" pitchFamily="34" charset="0"/>
            </a:endParaRPr>
          </a:p>
          <a:p>
            <a:pPr marL="6350" marR="1270" indent="-6350" algn="ctr">
              <a:lnSpc>
                <a:spcPts val="1200"/>
              </a:lnSpc>
              <a:spcAft>
                <a:spcPts val="40"/>
              </a:spcAft>
            </a:pPr>
            <a:r>
              <a:rPr lang="es-BO" sz="4900" dirty="0">
                <a:solidFill>
                  <a:srgbClr val="000000"/>
                </a:solidFill>
                <a:effectLst/>
                <a:latin typeface="Arial" panose="020B0604020202020204" pitchFamily="34" charset="0"/>
                <a:ea typeface="Arial" panose="020B0604020202020204" pitchFamily="34" charset="0"/>
              </a:rPr>
              <a:t> ACADÉMICO DE TÉCNICO</a:t>
            </a:r>
            <a:endParaRPr lang="es-BO" sz="4900" dirty="0">
              <a:solidFill>
                <a:srgbClr val="000000"/>
              </a:solidFill>
              <a:effectLst/>
              <a:latin typeface="Arial" panose="020B0604020202020204" pitchFamily="34" charset="0"/>
              <a:ea typeface="Arial" panose="020B0604020202020204" pitchFamily="34" charset="0"/>
            </a:endParaRPr>
          </a:p>
          <a:p>
            <a:pPr marL="6350" marR="1270" indent="-6350" algn="ctr">
              <a:lnSpc>
                <a:spcPts val="1200"/>
              </a:lnSpc>
              <a:spcAft>
                <a:spcPts val="40"/>
              </a:spcAft>
            </a:pPr>
            <a:r>
              <a:rPr lang="es-BO" sz="4900" dirty="0">
                <a:solidFill>
                  <a:srgbClr val="000000"/>
                </a:solidFill>
                <a:effectLst/>
                <a:latin typeface="Arial" panose="020B0604020202020204" pitchFamily="34" charset="0"/>
                <a:ea typeface="Arial" panose="020B0604020202020204" pitchFamily="34" charset="0"/>
              </a:rPr>
              <a:t> MEDIO EN SISTEMAS INFORMÁTICOS</a:t>
            </a:r>
            <a:endParaRPr lang="es-BO" sz="4900" dirty="0">
              <a:solidFill>
                <a:srgbClr val="000000"/>
              </a:solidFill>
              <a:effectLst/>
              <a:latin typeface="Arial" panose="020B0604020202020204" pitchFamily="34" charset="0"/>
              <a:ea typeface="Arial" panose="020B0604020202020204" pitchFamily="34" charset="0"/>
            </a:endParaRPr>
          </a:p>
          <a:p>
            <a:pPr marL="6350" marR="1270" indent="-6350" algn="just">
              <a:lnSpc>
                <a:spcPct val="150000"/>
              </a:lnSpc>
              <a:spcAft>
                <a:spcPts val="40"/>
              </a:spcAft>
            </a:pPr>
            <a:r>
              <a:rPr lang="es-BO" sz="4900" dirty="0">
                <a:solidFill>
                  <a:srgbClr val="000000"/>
                </a:solidFill>
                <a:latin typeface="Arial" panose="020B0604020202020204" pitchFamily="34" charset="0"/>
                <a:ea typeface="Arial" panose="020B0604020202020204" pitchFamily="34" charset="0"/>
              </a:rPr>
              <a:t>										</a:t>
            </a:r>
            <a:r>
              <a:rPr lang="es-BO" sz="4900" dirty="0">
                <a:solidFill>
                  <a:srgbClr val="000000"/>
                </a:solidFill>
                <a:effectLst/>
                <a:latin typeface="Arial" panose="020B0604020202020204" pitchFamily="34" charset="0"/>
                <a:ea typeface="Arial" panose="020B0604020202020204" pitchFamily="34" charset="0"/>
              </a:rPr>
              <a:t>Oruro – Bolivia</a:t>
            </a:r>
            <a:endParaRPr lang="es-BO" sz="4900" dirty="0">
              <a:solidFill>
                <a:srgbClr val="000000"/>
              </a:solidFill>
              <a:effectLst/>
              <a:latin typeface="Arial" panose="020B0604020202020204" pitchFamily="34" charset="0"/>
              <a:ea typeface="Arial" panose="020B0604020202020204" pitchFamily="34" charset="0"/>
            </a:endParaRPr>
          </a:p>
          <a:p>
            <a:pPr marL="6350" marR="1270" indent="-6350" algn="just">
              <a:lnSpc>
                <a:spcPct val="150000"/>
              </a:lnSpc>
              <a:spcAft>
                <a:spcPts val="40"/>
              </a:spcAft>
            </a:pPr>
            <a:r>
              <a:rPr lang="es-BO" sz="4900" dirty="0">
                <a:solidFill>
                  <a:srgbClr val="000000"/>
                </a:solidFill>
                <a:effectLst/>
                <a:latin typeface="Arial" panose="020B0604020202020204" pitchFamily="34" charset="0"/>
                <a:ea typeface="Arial" panose="020B0604020202020204" pitchFamily="34" charset="0"/>
              </a:rPr>
              <a:t>											2026</a:t>
            </a:r>
            <a:endParaRPr lang="es-BO" sz="1800" dirty="0">
              <a:solidFill>
                <a:srgbClr val="000000"/>
              </a:solidFill>
              <a:effectLst/>
              <a:latin typeface="Arial" panose="020B0604020202020204" pitchFamily="34" charset="0"/>
              <a:ea typeface="Arial" panose="020B0604020202020204" pitchFamily="34" charset="0"/>
            </a:endParaRPr>
          </a:p>
          <a:p>
            <a:endParaRPr lang="es-BO" dirty="0"/>
          </a:p>
        </p:txBody>
      </p:sp>
      <p:pic>
        <p:nvPicPr>
          <p:cNvPr id="3" name="Imagen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52356" y="0"/>
            <a:ext cx="2700151" cy="31448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431234" y="3155275"/>
            <a:ext cx="10020369" cy="2596168"/>
          </a:xfrm>
        </p:spPr>
        <p:txBody>
          <a:bodyPr>
            <a:normAutofit/>
          </a:bodyPr>
          <a:lstStyle/>
          <a:p>
            <a:pPr marL="6350" marR="1270" indent="-6350" algn="ctr">
              <a:lnSpc>
                <a:spcPct val="150000"/>
              </a:lnSpc>
              <a:spcAft>
                <a:spcPts val="40"/>
              </a:spcAft>
            </a:pPr>
            <a:r>
              <a:rPr lang="es-BO" sz="1800" b="1" dirty="0">
                <a:solidFill>
                  <a:srgbClr val="000000"/>
                </a:solidFill>
                <a:effectLst/>
                <a:latin typeface="Arial" panose="020B0604020202020204" pitchFamily="34" charset="0"/>
                <a:ea typeface="Arial" panose="020B0604020202020204" pitchFamily="34" charset="0"/>
              </a:rPr>
              <a:t> </a:t>
            </a:r>
            <a:br>
              <a:rPr lang="es-BO" sz="2000" dirty="0">
                <a:solidFill>
                  <a:srgbClr val="000000"/>
                </a:solidFill>
                <a:effectLst/>
                <a:latin typeface="Arial" panose="020B0604020202020204" pitchFamily="34" charset="0"/>
                <a:ea typeface="Arial" panose="020B0604020202020204" pitchFamily="34" charset="0"/>
                <a:cs typeface="Arial" panose="020B0604020202020204" pitchFamily="34" charset="0"/>
              </a:rPr>
            </a:br>
            <a:r>
              <a:rPr lang="es-BO" sz="2000" dirty="0">
                <a:solidFill>
                  <a:srgbClr val="000000"/>
                </a:solidFill>
                <a:effectLst/>
                <a:latin typeface="Arial" panose="020B0604020202020204" pitchFamily="34" charset="0"/>
                <a:ea typeface="Arial" panose="020B0604020202020204" pitchFamily="34" charset="0"/>
                <a:cs typeface="Arial" panose="020B0604020202020204" pitchFamily="34" charset="0"/>
              </a:rPr>
              <a:t>“Que cada persona aprenda a su ritmo no significa que sea inferior a </a:t>
            </a:r>
            <a:r>
              <a:rPr lang="es-BO" sz="2000" dirty="0">
                <a:solidFill>
                  <a:srgbClr val="000000"/>
                </a:solidFill>
                <a:latin typeface="Arial" panose="020B0604020202020204" pitchFamily="34" charset="0"/>
                <a:ea typeface="Arial" panose="020B0604020202020204" pitchFamily="34" charset="0"/>
                <a:cs typeface="Arial" panose="020B0604020202020204" pitchFamily="34" charset="0"/>
              </a:rPr>
              <a:t>los </a:t>
            </a:r>
            <a:r>
              <a:rPr lang="es-BO" sz="2000" dirty="0" err="1">
                <a:solidFill>
                  <a:srgbClr val="000000"/>
                </a:solidFill>
                <a:latin typeface="Arial" panose="020B0604020202020204" pitchFamily="34" charset="0"/>
                <a:ea typeface="Arial" panose="020B0604020202020204" pitchFamily="34" charset="0"/>
                <a:cs typeface="Arial" panose="020B0604020202020204" pitchFamily="34" charset="0"/>
              </a:rPr>
              <a:t>demas</a:t>
            </a:r>
            <a:r>
              <a:rPr lang="es-BO" sz="2000"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br>
              <a:rPr lang="es-BO" sz="2000" dirty="0">
                <a:solidFill>
                  <a:srgbClr val="000000"/>
                </a:solidFill>
                <a:effectLst/>
                <a:latin typeface="Arial" panose="020B0604020202020204" pitchFamily="34" charset="0"/>
                <a:ea typeface="Arial" panose="020B0604020202020204" pitchFamily="34" charset="0"/>
                <a:cs typeface="Arial" panose="020B0604020202020204" pitchFamily="34" charset="0"/>
              </a:rPr>
            </a:br>
            <a:r>
              <a:rPr lang="es-BO" sz="2000" b="1" spc="100" dirty="0">
                <a:solidFill>
                  <a:srgbClr val="000000"/>
                </a:solidFill>
                <a:effectLst/>
                <a:latin typeface="Arial" panose="020B0604020202020204" pitchFamily="34" charset="0"/>
                <a:ea typeface="Arial" panose="020B0604020202020204" pitchFamily="34" charset="0"/>
                <a:cs typeface="Arial" panose="020B0604020202020204" pitchFamily="34" charset="0"/>
              </a:rPr>
              <a:t>Erik Rodolfo Pardo Antezana</a:t>
            </a:r>
            <a:br>
              <a:rPr lang="es-BO" sz="2000" b="1" spc="100" dirty="0">
                <a:solidFill>
                  <a:srgbClr val="000000"/>
                </a:solidFill>
                <a:effectLst/>
                <a:latin typeface="Arial" panose="020B0604020202020204" pitchFamily="34" charset="0"/>
                <a:ea typeface="Arial" panose="020B0604020202020204" pitchFamily="34" charset="0"/>
                <a:cs typeface="Arial" panose="020B0604020202020204" pitchFamily="34" charset="0"/>
              </a:rPr>
            </a:br>
            <a:r>
              <a:rPr lang="es-BO" sz="2000" b="1" spc="100" dirty="0" err="1">
                <a:solidFill>
                  <a:srgbClr val="000000"/>
                </a:solidFill>
                <a:effectLst/>
                <a:latin typeface="Arial" panose="020B0604020202020204" pitchFamily="34" charset="0"/>
                <a:ea typeface="Arial" panose="020B0604020202020204" pitchFamily="34" charset="0"/>
                <a:cs typeface="Arial" panose="020B0604020202020204" pitchFamily="34" charset="0"/>
              </a:rPr>
              <a:t>Ihan</a:t>
            </a:r>
            <a:r>
              <a:rPr lang="es-BO" sz="2000" b="1" spc="100" dirty="0">
                <a:solidFill>
                  <a:srgbClr val="000000"/>
                </a:solidFill>
                <a:effectLst/>
                <a:latin typeface="Arial" panose="020B0604020202020204" pitchFamily="34" charset="0"/>
                <a:ea typeface="Arial" panose="020B0604020202020204" pitchFamily="34" charset="0"/>
                <a:cs typeface="Arial" panose="020B0604020202020204" pitchFamily="34" charset="0"/>
              </a:rPr>
              <a:t> Michael </a:t>
            </a:r>
            <a:r>
              <a:rPr lang="es-BO" sz="2000" b="1" spc="100" dirty="0" err="1">
                <a:solidFill>
                  <a:srgbClr val="000000"/>
                </a:solidFill>
                <a:effectLst/>
                <a:latin typeface="Arial" panose="020B0604020202020204" pitchFamily="34" charset="0"/>
                <a:ea typeface="Arial" panose="020B0604020202020204" pitchFamily="34" charset="0"/>
                <a:cs typeface="Arial" panose="020B0604020202020204" pitchFamily="34" charset="0"/>
              </a:rPr>
              <a:t>Cossio</a:t>
            </a:r>
            <a:r>
              <a:rPr lang="es-BO" sz="2000" b="1" spc="1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BO" sz="2000" b="1" spc="100" dirty="0" err="1">
                <a:solidFill>
                  <a:srgbClr val="000000"/>
                </a:solidFill>
                <a:effectLst/>
                <a:latin typeface="Arial" panose="020B0604020202020204" pitchFamily="34" charset="0"/>
                <a:ea typeface="Arial" panose="020B0604020202020204" pitchFamily="34" charset="0"/>
                <a:cs typeface="Arial" panose="020B0604020202020204" pitchFamily="34" charset="0"/>
              </a:rPr>
              <a:t>Mollo</a:t>
            </a:r>
            <a:endParaRPr lang="es-BO"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605" y="136863"/>
            <a:ext cx="8581542" cy="998093"/>
          </a:xfrm>
          <a:prstGeom prst="rect">
            <a:avLst/>
          </a:prstGeom>
          <a:solidFill>
            <a:schemeClr val="accent2">
              <a:lumMod val="75000"/>
            </a:schemeClr>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square" tIns="67500" bIns="67500">
            <a:spAutoFit/>
          </a:bodyPr>
          <a:lstStyle/>
          <a:p>
            <a:pPr algn="ct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CAPITULO I</a:t>
            </a:r>
            <a:br>
              <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br>
            <a:r>
              <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ASPECTOS GENERALES Y METODOLÓGICOS</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5" name="object 3"/>
          <p:cNvSpPr txBox="1"/>
          <p:nvPr/>
        </p:nvSpPr>
        <p:spPr>
          <a:xfrm>
            <a:off x="1828605" y="2231206"/>
            <a:ext cx="9344991" cy="3982085"/>
          </a:xfrm>
          <a:prstGeom prst="rect">
            <a:avLst/>
          </a:prstGeom>
        </p:spPr>
        <p:txBody>
          <a:bodyPr vert="horz" wrap="square" lIns="0" tIns="12065" rIns="0" bIns="0" rtlCol="0">
            <a:spAutoFit/>
          </a:bodyPr>
          <a:lstStyle/>
          <a:p>
            <a:pPr marL="12700" marR="6350" indent="60960" algn="just">
              <a:lnSpc>
                <a:spcPct val="150000"/>
              </a:lnSpc>
              <a:spcAft>
                <a:spcPts val="1200"/>
              </a:spcAft>
            </a:pPr>
            <a:endParaRPr lang="es-ES" sz="2000" b="1" dirty="0">
              <a:latin typeface="Arial" panose="020B0604020202020204" pitchFamily="34" charset="0"/>
              <a:cs typeface="Arial" panose="020B0604020202020204" pitchFamily="34" charset="0"/>
            </a:endParaRPr>
          </a:p>
          <a:p>
            <a:pPr marL="12700" marR="6350" indent="60960" algn="just">
              <a:lnSpc>
                <a:spcPct val="150000"/>
              </a:lnSpc>
              <a:spcAft>
                <a:spcPts val="1200"/>
              </a:spcAft>
            </a:pPr>
            <a:endParaRPr lang="es-ES" sz="2000" b="1" dirty="0">
              <a:latin typeface="Arial" panose="020B0604020202020204" pitchFamily="34" charset="0"/>
              <a:cs typeface="Arial" panose="020B0604020202020204" pitchFamily="34" charset="0"/>
            </a:endParaRPr>
          </a:p>
          <a:p>
            <a:pPr marL="12700" marR="6350" indent="60960" algn="just">
              <a:lnSpc>
                <a:spcPct val="150000"/>
              </a:lnSpc>
              <a:spcAft>
                <a:spcPts val="1200"/>
              </a:spcAft>
            </a:pPr>
            <a:r>
              <a:rPr lang="es-ES" sz="1600" dirty="0">
                <a:latin typeface="Arial" panose="020B0604020202020204" pitchFamily="34" charset="0"/>
                <a:cs typeface="Arial" panose="020B0604020202020204" pitchFamily="34" charset="0"/>
              </a:rPr>
              <a:t>La U.E. </a:t>
            </a:r>
            <a:r>
              <a:rPr lang="es-ES" sz="1600" b="1" dirty="0">
                <a:latin typeface="Arial" panose="020B0604020202020204" pitchFamily="34" charset="0"/>
                <a:cs typeface="Arial" panose="020B0604020202020204" pitchFamily="34" charset="0"/>
              </a:rPr>
              <a:t>Santa María Magdalena Postel</a:t>
            </a:r>
            <a:r>
              <a:rPr lang="es-ES" sz="1600" dirty="0">
                <a:latin typeface="Arial" panose="020B0604020202020204" pitchFamily="34" charset="0"/>
                <a:cs typeface="Arial" panose="020B0604020202020204" pitchFamily="34" charset="0"/>
              </a:rPr>
              <a:t> fue fundada en </a:t>
            </a:r>
            <a:r>
              <a:rPr lang="es-ES" sz="1600" b="1" dirty="0">
                <a:latin typeface="Arial" panose="020B0604020202020204" pitchFamily="34" charset="0"/>
                <a:cs typeface="Arial" panose="020B0604020202020204" pitchFamily="34" charset="0"/>
              </a:rPr>
              <a:t>1998 en Oruro</a:t>
            </a:r>
            <a:r>
              <a:rPr lang="es-ES" sz="1600" dirty="0">
                <a:latin typeface="Arial" panose="020B0604020202020204" pitchFamily="34" charset="0"/>
                <a:cs typeface="Arial" panose="020B0604020202020204" pitchFamily="34" charset="0"/>
              </a:rPr>
              <a:t> para brindar educación integral a sectores vulnerables. Su modelo educativo promueve </a:t>
            </a:r>
            <a:r>
              <a:rPr lang="es-ES" sz="1600" b="1" dirty="0">
                <a:latin typeface="Arial" panose="020B0604020202020204" pitchFamily="34" charset="0"/>
                <a:cs typeface="Arial" panose="020B0604020202020204" pitchFamily="34" charset="0"/>
              </a:rPr>
              <a:t>valores cristianos, participación comunitaria y cuidado del medio ambiente</a:t>
            </a:r>
            <a:r>
              <a:rPr lang="es-ES" sz="1600" dirty="0">
                <a:latin typeface="Arial" panose="020B0604020202020204" pitchFamily="34" charset="0"/>
                <a:cs typeface="Arial" panose="020B0604020202020204" pitchFamily="34" charset="0"/>
              </a:rPr>
              <a:t>. Actualmente, estos principios se aplican en </a:t>
            </a:r>
            <a:r>
              <a:rPr lang="es-ES" sz="1600" b="1" dirty="0">
                <a:latin typeface="Arial" panose="020B0604020202020204" pitchFamily="34" charset="0"/>
                <a:cs typeface="Arial" panose="020B0604020202020204" pitchFamily="34" charset="0"/>
              </a:rPr>
              <a:t>6to A de primaria</a:t>
            </a:r>
            <a:r>
              <a:rPr lang="es-ES" sz="1600" dirty="0">
                <a:latin typeface="Arial" panose="020B0604020202020204" pitchFamily="34" charset="0"/>
                <a:cs typeface="Arial" panose="020B0604020202020204" pitchFamily="34" charset="0"/>
              </a:rPr>
              <a:t> mediante proyectos que benefician a la comunidad.</a:t>
            </a:r>
            <a:endParaRPr lang="es-ES" sz="1600" dirty="0">
              <a:latin typeface="Arial" panose="020B0604020202020204" pitchFamily="34" charset="0"/>
              <a:cs typeface="Arial" panose="020B0604020202020204" pitchFamily="34" charset="0"/>
            </a:endParaRPr>
          </a:p>
          <a:p>
            <a:pPr marL="12700" marR="6350" indent="60960" algn="just">
              <a:lnSpc>
                <a:spcPct val="150000"/>
              </a:lnSpc>
              <a:spcAft>
                <a:spcPts val="1200"/>
              </a:spcAft>
            </a:pPr>
            <a:r>
              <a:rPr lang="es-ES" sz="1600" dirty="0">
                <a:latin typeface="Arial" panose="020B0604020202020204" pitchFamily="34" charset="0"/>
                <a:cs typeface="Arial" panose="020B0604020202020204" pitchFamily="34" charset="0"/>
              </a:rPr>
              <a:t>Se identificó la necesidad mediante </a:t>
            </a:r>
            <a:r>
              <a:rPr lang="es-ES" sz="1600" b="1" dirty="0">
                <a:latin typeface="Arial" panose="020B0604020202020204" pitchFamily="34" charset="0"/>
                <a:cs typeface="Arial" panose="020B0604020202020204" pitchFamily="34" charset="0"/>
              </a:rPr>
              <a:t>cuestionarios a padres de familia y la profesora acargo</a:t>
            </a:r>
            <a:r>
              <a:rPr lang="es-ES" sz="1600" dirty="0">
                <a:latin typeface="Arial" panose="020B0604020202020204" pitchFamily="34" charset="0"/>
                <a:cs typeface="Arial" panose="020B0604020202020204" pitchFamily="34" charset="0"/>
              </a:rPr>
              <a:t>, quienes apoyaron la creación de un </a:t>
            </a:r>
            <a:r>
              <a:rPr lang="es-ES" sz="1600" b="1" dirty="0">
                <a:latin typeface="Arial" panose="020B0604020202020204" pitchFamily="34" charset="0"/>
                <a:cs typeface="Arial" panose="020B0604020202020204" pitchFamily="34" charset="0"/>
              </a:rPr>
              <a:t>sitio web educativo</a:t>
            </a:r>
            <a:r>
              <a:rPr lang="es-ES" sz="1600" dirty="0">
                <a:latin typeface="Arial" panose="020B0604020202020204" pitchFamily="34" charset="0"/>
                <a:cs typeface="Arial" panose="020B0604020202020204" pitchFamily="34" charset="0"/>
              </a:rPr>
              <a:t> para reforzar esta área y preparar a los estudiantes para futuros estudios.</a:t>
            </a:r>
            <a:endParaRPr lang="es-ES" sz="1600" b="1" dirty="0">
              <a:latin typeface="Arial" panose="020B0604020202020204" pitchFamily="34" charset="0"/>
              <a:cs typeface="Arial" panose="020B0604020202020204" pitchFamily="34" charset="0"/>
            </a:endParaRPr>
          </a:p>
        </p:txBody>
      </p:sp>
      <p:sp>
        <p:nvSpPr>
          <p:cNvPr id="4" name="object 2"/>
          <p:cNvSpPr txBox="1"/>
          <p:nvPr/>
        </p:nvSpPr>
        <p:spPr>
          <a:xfrm>
            <a:off x="1805229" y="1193150"/>
            <a:ext cx="5588900"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ANTECEDENTES GENERALES</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object 2"/>
          <p:cNvSpPr txBox="1"/>
          <p:nvPr/>
        </p:nvSpPr>
        <p:spPr>
          <a:xfrm>
            <a:off x="1805229" y="2716948"/>
            <a:ext cx="6185832"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ANTECEDENTES DE INSTITUCIÓN</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7" name="object 2"/>
          <p:cNvSpPr txBox="1"/>
          <p:nvPr/>
        </p:nvSpPr>
        <p:spPr>
          <a:xfrm>
            <a:off x="1805229" y="4546009"/>
            <a:ext cx="6185832"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ANTECEDENTES DE CONTEXTO       </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CuadroTexto 2"/>
          <p:cNvSpPr txBox="1"/>
          <p:nvPr/>
        </p:nvSpPr>
        <p:spPr>
          <a:xfrm>
            <a:off x="1770614" y="1760356"/>
            <a:ext cx="9368367" cy="953135"/>
          </a:xfrm>
          <a:prstGeom prst="rect">
            <a:avLst/>
          </a:prstGeom>
          <a:noFill/>
        </p:spPr>
        <p:txBody>
          <a:bodyPr wrap="square" rtlCol="0">
            <a:spAutoFit/>
          </a:bodyPr>
          <a:lstStyle/>
          <a:p>
            <a:r>
              <a:rPr lang="es-ES" sz="1400" dirty="0">
                <a:latin typeface="Arial" panose="020B0604020202020204" pitchFamily="34" charset="0"/>
                <a:cs typeface="Arial" panose="020B0604020202020204" pitchFamily="34" charset="0"/>
              </a:rPr>
              <a:t>El Proyecto Socio Productivo está dirigido a estudiantes de </a:t>
            </a:r>
            <a:r>
              <a:rPr lang="es-ES" sz="1400" b="1" dirty="0">
                <a:latin typeface="Arial" panose="020B0604020202020204" pitchFamily="34" charset="0"/>
                <a:cs typeface="Arial" panose="020B0604020202020204" pitchFamily="34" charset="0"/>
              </a:rPr>
              <a:t>6to A de primaria</a:t>
            </a:r>
            <a:r>
              <a:rPr lang="es-ES" sz="1400" dirty="0">
                <a:latin typeface="Arial" panose="020B0604020202020204" pitchFamily="34" charset="0"/>
                <a:cs typeface="Arial" panose="020B0604020202020204" pitchFamily="34" charset="0"/>
              </a:rPr>
              <a:t> y busca fortalecer su educación mediante una </a:t>
            </a:r>
            <a:r>
              <a:rPr lang="es-ES" sz="1400" b="1" dirty="0">
                <a:latin typeface="Arial" panose="020B0604020202020204" pitchFamily="34" charset="0"/>
                <a:cs typeface="Arial" panose="020B0604020202020204" pitchFamily="34" charset="0"/>
              </a:rPr>
              <a:t>página web con información y recursos de apoyo</a:t>
            </a:r>
            <a:r>
              <a:rPr lang="es-ES" sz="1400" dirty="0">
                <a:latin typeface="Arial" panose="020B0604020202020204" pitchFamily="34" charset="0"/>
                <a:cs typeface="Arial" panose="020B0604020202020204" pitchFamily="34" charset="0"/>
              </a:rPr>
              <a:t>. Esto permitirá mejorar sus conocimientos y preparación para futuros estudios, como secundaria y universidad, contribuyendo a un mejor desarrollo intelectual y educativo.</a:t>
            </a:r>
            <a:endParaRPr lang="es-ES" sz="14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6658" y="187441"/>
            <a:ext cx="9169944"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square" tIns="67500" bIns="67500">
            <a:spAutoFit/>
          </a:bodyPr>
          <a:lstStyle/>
          <a:p>
            <a:pPr defTabSz="914400">
              <a:spcAft>
                <a:spcPts val="750"/>
              </a:spcAft>
            </a:pPr>
            <a:r>
              <a:rPr lang="es-E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IDENTIFICACION Y FORMULACION DEL PROBLEMA</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3" name="AutoShape 2" descr="RECURSOS, MEDIO AMBIENTE Y DESARROLLO SOSTENIBLE | Hacia un mundo sostenible"/>
          <p:cNvSpPr>
            <a:spLocks noChangeAspect="1" noChangeArrowheads="1"/>
          </p:cNvSpPr>
          <p:nvPr/>
        </p:nvSpPr>
        <p:spPr bwMode="auto">
          <a:xfrm>
            <a:off x="6201533" y="4143341"/>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object 2"/>
          <p:cNvSpPr txBox="1"/>
          <p:nvPr/>
        </p:nvSpPr>
        <p:spPr>
          <a:xfrm>
            <a:off x="1806414" y="1928547"/>
            <a:ext cx="6026807"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IDENTIFICACION DEL PROBLEMA</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7" name="object 2"/>
          <p:cNvSpPr txBox="1"/>
          <p:nvPr/>
        </p:nvSpPr>
        <p:spPr>
          <a:xfrm>
            <a:off x="1616559" y="4698769"/>
            <a:ext cx="6025342"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FORMULACIÓN DEL PROBLEMA</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CuadroTexto 4"/>
          <p:cNvSpPr txBox="1"/>
          <p:nvPr/>
        </p:nvSpPr>
        <p:spPr>
          <a:xfrm>
            <a:off x="1766500" y="2619074"/>
            <a:ext cx="10085109" cy="1783715"/>
          </a:xfrm>
          <a:prstGeom prst="rect">
            <a:avLst/>
          </a:prstGeom>
          <a:noFill/>
        </p:spPr>
        <p:txBody>
          <a:bodyPr wrap="square" rtlCol="0">
            <a:spAutoFit/>
          </a:bodyPr>
          <a:lstStyle/>
          <a:p>
            <a:r>
              <a:rPr lang="es-ES" sz="1100" dirty="0">
                <a:latin typeface="Arial" panose="020B0604020202020204" pitchFamily="34" charset="0"/>
                <a:cs typeface="Arial" panose="020B0604020202020204" pitchFamily="34" charset="0"/>
              </a:rPr>
              <a:t>El problema central radica en la alarmante falta de plataformas educativas dinámicas y adaptadas al entorno digital actual. En la actualidad, los estudiantes de 6to de Primaria sección "A" muestran una marcada tendencia a enfocar su atención de manera casi exclusiva hacia las pantallas de dispositivos móviles y computadoras. Sin embargo, este interés tecnológico es desaprovechado debido a la inexistencia de sitios web interactivos diseñados bajo un enfoque pedagógico que se adapte al ritmo de aprendizaje de los niños en edad escolar. Esta carencia se agudiza drásticamente al abordar áreas críticas como la Biología y las Ciencias Naturales, donde contenidos curriculares complejos como la anatomía humana, los ecosistemas y la biodiversidad se siguen enseñando de forma teórica, abstracta y lineal. Al no contar con un espacio digital e interactivo que traduzca estos procesos científicos en interfaces intuitivas, juegos didácticos o simulaciones visuales, los niños intentan consumir información rígida en formatos monótonos que chocan con su demanda de estimulación digital. La ausencia de una alternativa tecnológica adecuada para estas materias provoca una profunda frustración académica en los estudiantes al no poder aprender a su propio ritmo, lo que desencadena un bajo rendimiento escolar en las ciencias, desmotivación crónica y, en casos extremos, el riesgo de un abandono escolar temprano ante la desconexión total entre la escuela y su realidad tecnológica.</a:t>
            </a:r>
            <a:endParaRPr lang="es-ES" sz="1100" dirty="0">
              <a:latin typeface="Arial" panose="020B0604020202020204" pitchFamily="34" charset="0"/>
              <a:cs typeface="Arial" panose="020B0604020202020204" pitchFamily="34" charset="0"/>
            </a:endParaRPr>
          </a:p>
        </p:txBody>
      </p:sp>
      <p:sp>
        <p:nvSpPr>
          <p:cNvPr id="8" name="CuadroTexto 7"/>
          <p:cNvSpPr txBox="1"/>
          <p:nvPr/>
        </p:nvSpPr>
        <p:spPr>
          <a:xfrm>
            <a:off x="1766657" y="765440"/>
            <a:ext cx="9935011" cy="1291590"/>
          </a:xfrm>
          <a:prstGeom prst="rect">
            <a:avLst/>
          </a:prstGeom>
          <a:noFill/>
        </p:spPr>
        <p:txBody>
          <a:bodyPr wrap="square" rtlCol="0">
            <a:spAutoFit/>
          </a:bodyPr>
          <a:lstStyle/>
          <a:p>
            <a:r>
              <a:rPr lang="es-BO" sz="1400" dirty="0">
                <a:latin typeface="Arial" panose="020B0604020202020204" pitchFamily="34" charset="0"/>
                <a:cs typeface="Arial" panose="020B0604020202020204" pitchFamily="34" charset="0"/>
              </a:rPr>
              <a:t>La creación de este sitio web esta planteada por la siguiente </a:t>
            </a:r>
            <a:r>
              <a:rPr lang="es-BO" sz="1400" dirty="0" err="1">
                <a:latin typeface="Arial" panose="020B0604020202020204" pitchFamily="34" charset="0"/>
                <a:cs typeface="Arial" panose="020B0604020202020204" pitchFamily="34" charset="0"/>
              </a:rPr>
              <a:t>pregunta.Según</a:t>
            </a:r>
            <a:r>
              <a:rPr lang="es-BO" sz="1400" dirty="0">
                <a:latin typeface="Arial" panose="020B0604020202020204" pitchFamily="34" charset="0"/>
                <a:cs typeface="Arial" panose="020B0604020202020204" pitchFamily="34" charset="0"/>
              </a:rPr>
              <a:t> las encuestas realizadas y los comentarios de</a:t>
            </a:r>
            <a:r>
              <a:rPr lang="es-ES" altLang="es-BO" sz="1400" dirty="0">
                <a:latin typeface="Arial" panose="020B0604020202020204" pitchFamily="34" charset="0"/>
                <a:cs typeface="Arial" panose="020B0604020202020204" pitchFamily="34" charset="0"/>
              </a:rPr>
              <a:t> la profersora conjunto con</a:t>
            </a:r>
            <a:r>
              <a:rPr lang="es-BO" sz="1400" dirty="0">
                <a:latin typeface="Arial" panose="020B0604020202020204" pitchFamily="34" charset="0"/>
                <a:cs typeface="Arial" panose="020B0604020202020204" pitchFamily="34" charset="0"/>
              </a:rPr>
              <a:t> los padres y madres de familia</a:t>
            </a:r>
            <a:r>
              <a:rPr lang="es-ES" altLang="es-BO" sz="1400" dirty="0">
                <a:latin typeface="Arial" panose="020B0604020202020204" pitchFamily="34" charset="0"/>
                <a:cs typeface="Arial" panose="020B0604020202020204" pitchFamily="34" charset="0"/>
              </a:rPr>
              <a:t> </a:t>
            </a:r>
            <a:r>
              <a:rPr lang="es-BO" sz="1400" dirty="0">
                <a:latin typeface="Arial" panose="020B0604020202020204" pitchFamily="34" charset="0"/>
                <a:cs typeface="Arial" panose="020B0604020202020204" pitchFamily="34" charset="0"/>
              </a:rPr>
              <a:t>, se determino que era necesario, por como las pantallas suelen ser mas atractivas a la vista de niños y como estos al interactuar con estas suelen quedar </a:t>
            </a:r>
            <a:r>
              <a:rPr lang="es-BO" sz="1600" dirty="0">
                <a:latin typeface="Arial" panose="020B0604020202020204" pitchFamily="34" charset="0"/>
                <a:cs typeface="Arial" panose="020B0604020202020204" pitchFamily="34" charset="0"/>
              </a:rPr>
              <a:t>concentrados al ser una pagina dinámica.</a:t>
            </a:r>
            <a:endParaRPr lang="es-ES" sz="1600" dirty="0">
              <a:latin typeface="Arial" panose="020B0604020202020204" pitchFamily="34" charset="0"/>
              <a:cs typeface="Arial" panose="020B0604020202020204" pitchFamily="34" charset="0"/>
            </a:endParaRPr>
          </a:p>
          <a:p>
            <a:endParaRPr lang="es-ES" dirty="0">
              <a:latin typeface="Arial" panose="020B0604020202020204" pitchFamily="34" charset="0"/>
              <a:cs typeface="Arial" panose="020B0604020202020204" pitchFamily="34" charset="0"/>
            </a:endParaRPr>
          </a:p>
        </p:txBody>
      </p:sp>
      <p:sp>
        <p:nvSpPr>
          <p:cNvPr id="9" name="CuadroTexto 8"/>
          <p:cNvSpPr txBox="1"/>
          <p:nvPr/>
        </p:nvSpPr>
        <p:spPr>
          <a:xfrm>
            <a:off x="1616559" y="5420023"/>
            <a:ext cx="9899579" cy="798830"/>
          </a:xfrm>
          <a:prstGeom prst="rect">
            <a:avLst/>
          </a:prstGeom>
          <a:noFill/>
        </p:spPr>
        <p:txBody>
          <a:bodyPr wrap="square" rtlCol="0">
            <a:spAutoFit/>
          </a:bodyPr>
          <a:lstStyle/>
          <a:p>
            <a:r>
              <a:rPr lang="es-BO" sz="1400" dirty="0">
                <a:latin typeface="Arial" panose="020B0604020202020204" pitchFamily="34" charset="0"/>
                <a:cs typeface="Arial" panose="020B0604020202020204" pitchFamily="34" charset="0"/>
              </a:rPr>
              <a:t>¿Cuáles son los factores de interactividad en un sitio web </a:t>
            </a:r>
            <a:r>
              <a:rPr lang="es-BO" sz="1400" dirty="0" err="1">
                <a:latin typeface="Arial" panose="020B0604020202020204" pitchFamily="34" charset="0"/>
                <a:cs typeface="Arial" panose="020B0604020202020204" pitchFamily="34" charset="0"/>
              </a:rPr>
              <a:t>dinamico</a:t>
            </a:r>
            <a:r>
              <a:rPr lang="es-BO" sz="1400" dirty="0">
                <a:latin typeface="Arial" panose="020B0604020202020204" pitchFamily="34" charset="0"/>
                <a:cs typeface="Arial" panose="020B0604020202020204" pitchFamily="34" charset="0"/>
              </a:rPr>
              <a:t> que inciden en los niveles de atención y el en rendimiento en el área de ciencias naturales de niños de primaria en la Unidad Educativa “Santa María Magdalena Postel”?</a:t>
            </a:r>
            <a:endParaRPr lang="es-ES" sz="1400" dirty="0">
              <a:latin typeface="Arial" panose="020B0604020202020204" pitchFamily="34" charset="0"/>
              <a:cs typeface="Arial" panose="020B0604020202020204" pitchFamily="34" charset="0"/>
            </a:endParaRPr>
          </a:p>
          <a:p>
            <a:endParaRPr lang="es-ES"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020" y="716675"/>
            <a:ext cx="4038980"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square" tIns="67500" bIns="67500">
            <a:spAutoFit/>
          </a:body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OBJETIVO GENERAL</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4" name="object 4"/>
          <p:cNvSpPr txBox="1"/>
          <p:nvPr/>
        </p:nvSpPr>
        <p:spPr>
          <a:xfrm>
            <a:off x="1914411" y="1542196"/>
            <a:ext cx="9208514" cy="2843530"/>
          </a:xfrm>
          <a:prstGeom prst="rect">
            <a:avLst/>
          </a:prstGeom>
        </p:spPr>
        <p:txBody>
          <a:bodyPr vert="horz" wrap="square" lIns="0" tIns="12065" rIns="0" bIns="0" rtlCol="0">
            <a:spAutoFit/>
          </a:bodyPr>
          <a:lstStyle>
            <a:defPPr>
              <a:defRPr lang="en-US"/>
            </a:defPPr>
            <a:lvl1pPr marL="12700" marR="6350" indent="60960" algn="just">
              <a:lnSpc>
                <a:spcPct val="150000"/>
              </a:lnSpc>
              <a:spcAft>
                <a:spcPts val="1200"/>
              </a:spcAft>
              <a:defRPr sz="2000" spc="50">
                <a:latin typeface="Arial" panose="020B0604020202020204" pitchFamily="34" charset="0"/>
                <a:cs typeface="Arial" panose="020B0604020202020204" pitchFamily="34" charset="0"/>
              </a:defRPr>
            </a:lvl1pPr>
          </a:lstStyle>
          <a:p>
            <a:r>
              <a:rPr lang="es-BO" sz="2400" dirty="0">
                <a:highlight>
                  <a:srgbClr val="FFFF00"/>
                </a:highlight>
              </a:rPr>
              <a:t>Desarrollar un sitio web para el apoyo en el área de Ciencias Naturales/Biología para el desarrollo de una educación</a:t>
            </a:r>
            <a:r>
              <a:rPr lang="es-ES" altLang="es-BO" sz="2400" dirty="0">
                <a:highlight>
                  <a:srgbClr val="FFFF00"/>
                </a:highlight>
              </a:rPr>
              <a:t> estable</a:t>
            </a:r>
            <a:r>
              <a:rPr lang="es-BO" sz="2400" dirty="0">
                <a:highlight>
                  <a:srgbClr val="FFFF00"/>
                </a:highlight>
              </a:rPr>
              <a:t> para el curso de 6toA primaria de Unidad Educativa “Santa María Magdalena Postel”</a:t>
            </a:r>
            <a:endParaRPr lang="es-ES" sz="2400" dirty="0">
              <a:highlight>
                <a:srgbClr val="FFFF00"/>
              </a:highlight>
            </a:endParaRPr>
          </a:p>
          <a:p>
            <a:endParaRPr b="1" dirty="0">
              <a:solidFill>
                <a:srgbClr val="0070C0"/>
              </a:solidFill>
            </a:endParaRPr>
          </a:p>
        </p:txBody>
      </p:sp>
      <p:pic>
        <p:nvPicPr>
          <p:cNvPr id="3074" name="Picture 2" descr="Desarrollo Sostenible o Sustentable: Es posible????"/>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113694" y="3452884"/>
            <a:ext cx="3009231" cy="30054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5229" y="584153"/>
            <a:ext cx="4820858"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square" tIns="67500" bIns="67500">
            <a:spAutoFit/>
          </a:body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OBJETIVOS ESPECIFICOS</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5" name="object 8"/>
          <p:cNvSpPr txBox="1"/>
          <p:nvPr/>
        </p:nvSpPr>
        <p:spPr>
          <a:xfrm>
            <a:off x="1566690" y="1151359"/>
            <a:ext cx="9454174" cy="5398135"/>
          </a:xfrm>
          <a:prstGeom prst="rect">
            <a:avLst/>
          </a:prstGeom>
        </p:spPr>
        <p:txBody>
          <a:bodyPr vert="horz" wrap="square" lIns="0" tIns="12065" rIns="0" bIns="0" rtlCol="0">
            <a:spAutoFit/>
          </a:bodyPr>
          <a:lstStyle>
            <a:defPPr>
              <a:defRPr lang="en-US"/>
            </a:defPPr>
            <a:lvl1pPr marL="12700" marR="6350" indent="60960" algn="just">
              <a:lnSpc>
                <a:spcPct val="150000"/>
              </a:lnSpc>
              <a:spcAft>
                <a:spcPts val="1200"/>
              </a:spcAft>
              <a:defRPr sz="2000" spc="50">
                <a:latin typeface="Arial" panose="020B0604020202020204" pitchFamily="34" charset="0"/>
                <a:cs typeface="Arial" panose="020B0604020202020204" pitchFamily="34" charset="0"/>
              </a:defRPr>
            </a:lvl1pPr>
          </a:lstStyle>
          <a:p>
            <a:pPr marL="355600" indent="-342900">
              <a:spcAft>
                <a:spcPts val="600"/>
              </a:spcAft>
              <a:buFont typeface="Arial" panose="020B0604020202020204" pitchFamily="34" charset="0"/>
              <a:buChar char="•"/>
            </a:pPr>
            <a:r>
              <a:rPr lang="es-BO" b="1" dirty="0"/>
              <a:t> </a:t>
            </a:r>
            <a:r>
              <a:rPr lang="en-US" altLang="es-MX" b="1" dirty="0"/>
              <a:t>Dise</a:t>
            </a:r>
            <a:r>
              <a:rPr lang="en-US" altLang="en-US" b="1" dirty="0"/>
              <a:t>ñ</a:t>
            </a:r>
            <a:r>
              <a:rPr lang="en-US" altLang="es-MX" b="1" dirty="0"/>
              <a:t>ar una interfaz gr</a:t>
            </a:r>
            <a:r>
              <a:rPr lang="en-US" altLang="en-US" b="1" dirty="0"/>
              <a:t>á</a:t>
            </a:r>
            <a:r>
              <a:rPr lang="en-US" altLang="es-MX" b="1" dirty="0"/>
              <a:t>fica interactiva, intuitiva, adaptativa y visualmente atractiva para ni</a:t>
            </a:r>
            <a:r>
              <a:rPr lang="en-US" altLang="en-US" b="1" dirty="0"/>
              <a:t>ñ</a:t>
            </a:r>
            <a:r>
              <a:rPr lang="en-US" altLang="es-MX" b="1" dirty="0"/>
              <a:t>os</a:t>
            </a:r>
            <a:r>
              <a:rPr lang="es-ES" altLang="en-US" b="1" dirty="0"/>
              <a:t> con ayuda de la profesora apoyandonos con bocetos y seguimiento</a:t>
            </a:r>
            <a:r>
              <a:rPr lang="en-US" altLang="es-MX" b="1" dirty="0"/>
              <a:t>.</a:t>
            </a:r>
            <a:endParaRPr lang="en-US" altLang="es-MX" b="1" dirty="0"/>
          </a:p>
          <a:p>
            <a:pPr marL="355600" indent="-342900">
              <a:spcAft>
                <a:spcPts val="600"/>
              </a:spcAft>
              <a:buFont typeface="Arial" panose="020B0604020202020204" pitchFamily="34" charset="0"/>
              <a:buChar char="•"/>
            </a:pPr>
            <a:r>
              <a:rPr lang="es-BO" b="1" dirty="0"/>
              <a:t>Diagnosticar </a:t>
            </a:r>
            <a:r>
              <a:rPr lang="en-US" altLang="es-MX" b="1" dirty="0"/>
              <a:t> y caracterizar las necesidades cognitivas y pedag</a:t>
            </a:r>
            <a:r>
              <a:rPr lang="en-US" altLang="en-US" b="1" dirty="0"/>
              <a:t>ó</a:t>
            </a:r>
            <a:r>
              <a:rPr lang="en-US" altLang="es-MX" b="1" dirty="0"/>
              <a:t>gicas del p</a:t>
            </a:r>
            <a:r>
              <a:rPr lang="en-US" altLang="en-US" b="1" dirty="0"/>
              <a:t>ú</a:t>
            </a:r>
            <a:r>
              <a:rPr lang="en-US" altLang="es-MX" b="1" dirty="0"/>
              <a:t>blico objetivo</a:t>
            </a:r>
            <a:r>
              <a:rPr lang="es-ES" altLang="en-US" b="1" dirty="0"/>
              <a:t> (niños)</a:t>
            </a:r>
            <a:r>
              <a:rPr lang="en-US" altLang="es-MX" b="1" dirty="0"/>
              <a:t>.</a:t>
            </a:r>
            <a:endParaRPr lang="en-US" altLang="es-MX" b="1" dirty="0"/>
          </a:p>
          <a:p>
            <a:pPr marL="355600" indent="-342900">
              <a:spcAft>
                <a:spcPts val="600"/>
              </a:spcAft>
              <a:buFont typeface="Arial" panose="020B0604020202020204" pitchFamily="34" charset="0"/>
              <a:buChar char="•"/>
            </a:pPr>
            <a:r>
              <a:rPr lang="en-US" altLang="es-MX" b="1" dirty="0"/>
              <a:t>Dise</a:t>
            </a:r>
            <a:r>
              <a:rPr lang="en-US" altLang="en-US" b="1" dirty="0"/>
              <a:t>ñ</a:t>
            </a:r>
            <a:r>
              <a:rPr lang="en-US" altLang="es-MX" b="1" dirty="0"/>
              <a:t>ar m</a:t>
            </a:r>
            <a:r>
              <a:rPr lang="en-US" altLang="en-US" b="1" dirty="0"/>
              <a:t>ó</a:t>
            </a:r>
            <a:r>
              <a:rPr lang="en-US" altLang="es-MX" b="1" dirty="0"/>
              <a:t>dulos did</a:t>
            </a:r>
            <a:r>
              <a:rPr lang="en-US" altLang="en-US" b="1" dirty="0"/>
              <a:t>á</a:t>
            </a:r>
            <a:r>
              <a:rPr lang="en-US" altLang="es-MX" b="1" dirty="0"/>
              <a:t>cticos digitales multimedia que se ajusten a dichas necesidades.</a:t>
            </a:r>
            <a:endParaRPr lang="en-US" altLang="es-MX" b="1" dirty="0"/>
          </a:p>
          <a:p>
            <a:pPr marL="355600" indent="-342900">
              <a:spcAft>
                <a:spcPts val="600"/>
              </a:spcAft>
              <a:buFont typeface="Arial" panose="020B0604020202020204" pitchFamily="34" charset="0"/>
              <a:buChar char="•"/>
            </a:pPr>
            <a:r>
              <a:rPr lang="en-US" altLang="es-MX" b="1" dirty="0"/>
              <a:t>Implementar y poner en funcionamiento la p</a:t>
            </a:r>
            <a:r>
              <a:rPr lang="en-US" altLang="en-US" b="1" dirty="0"/>
              <a:t>á</a:t>
            </a:r>
            <a:r>
              <a:rPr lang="en-US" altLang="es-MX" b="1" dirty="0"/>
              <a:t>gina web de forma sistem</a:t>
            </a:r>
            <a:r>
              <a:rPr lang="en-US" altLang="en-US" b="1" dirty="0"/>
              <a:t>á</a:t>
            </a:r>
            <a:r>
              <a:rPr lang="en-US" altLang="es-MX" b="1" dirty="0"/>
              <a:t>tica.</a:t>
            </a:r>
            <a:endParaRPr lang="en-US" altLang="es-MX" b="1" dirty="0"/>
          </a:p>
          <a:p>
            <a:pPr marL="355600" indent="-342900">
              <a:spcAft>
                <a:spcPts val="600"/>
              </a:spcAft>
              <a:buFont typeface="Arial" panose="020B0604020202020204" pitchFamily="34" charset="0"/>
              <a:buChar char="•"/>
            </a:pPr>
            <a:r>
              <a:rPr lang="en-US" altLang="es-MX" b="1" dirty="0"/>
              <a:t>Evaluar y medir el impacto pedag</a:t>
            </a:r>
            <a:r>
              <a:rPr lang="en-US" altLang="en-US" b="1" dirty="0"/>
              <a:t>ó</a:t>
            </a:r>
            <a:r>
              <a:rPr lang="en-US" altLang="es-MX" b="1" dirty="0"/>
              <a:t>gico del uso de la plataforma web</a:t>
            </a:r>
            <a:r>
              <a:rPr lang="es-ES" altLang="en-US" b="1" dirty="0"/>
              <a:t> mediante seguimiento </a:t>
            </a:r>
            <a:r>
              <a:rPr lang="en-US" altLang="es-MX" b="1" dirty="0"/>
              <a:t>.</a:t>
            </a:r>
            <a:endParaRPr lang="en-US" altLang="es-MX"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3408" y="513644"/>
            <a:ext cx="4900371"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square" tIns="67500" bIns="67500">
            <a:spAutoFit/>
          </a:body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JUSTIFICACIÓN TÉCNICA</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4" name="object 9"/>
          <p:cNvSpPr txBox="1"/>
          <p:nvPr/>
        </p:nvSpPr>
        <p:spPr>
          <a:xfrm>
            <a:off x="2064537" y="1440994"/>
            <a:ext cx="9263105" cy="416845"/>
          </a:xfrm>
          <a:prstGeom prst="rect">
            <a:avLst/>
          </a:prstGeom>
        </p:spPr>
        <p:txBody>
          <a:bodyPr vert="horz" wrap="square" lIns="0" tIns="12065" rIns="0" bIns="0" rtlCol="0">
            <a:spAutoFit/>
          </a:bodyPr>
          <a:lstStyle>
            <a:defPPr>
              <a:defRPr lang="en-US"/>
            </a:defPPr>
            <a:lvl1pPr marL="12700" marR="6350" indent="60960" algn="just">
              <a:lnSpc>
                <a:spcPct val="150000"/>
              </a:lnSpc>
              <a:spcAft>
                <a:spcPts val="600"/>
              </a:spcAft>
              <a:defRPr sz="2000" b="1" spc="50">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pPr>
              <a:spcAft>
                <a:spcPts val="1800"/>
              </a:spcAft>
            </a:pPr>
            <a:endParaRPr b="0" dirty="0">
              <a:effectLst/>
            </a:endParaRPr>
          </a:p>
        </p:txBody>
      </p:sp>
      <p:sp>
        <p:nvSpPr>
          <p:cNvPr id="9" name="object 2"/>
          <p:cNvSpPr txBox="1"/>
          <p:nvPr/>
        </p:nvSpPr>
        <p:spPr>
          <a:xfrm>
            <a:off x="1766658" y="2490119"/>
            <a:ext cx="8304994"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JUSTIFICACIÓN ECONÓMICA- FINANCIERA</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0" name="object 2"/>
          <p:cNvSpPr txBox="1"/>
          <p:nvPr/>
        </p:nvSpPr>
        <p:spPr>
          <a:xfrm>
            <a:off x="1766658" y="4173042"/>
            <a:ext cx="4900371"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JUSTIFICACIÓN SOCIAL</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CuadroTexto 2"/>
          <p:cNvSpPr txBox="1"/>
          <p:nvPr/>
        </p:nvSpPr>
        <p:spPr>
          <a:xfrm>
            <a:off x="1823408" y="1205948"/>
            <a:ext cx="9263105" cy="1198880"/>
          </a:xfrm>
          <a:prstGeom prst="rect">
            <a:avLst/>
          </a:prstGeom>
          <a:noFill/>
        </p:spPr>
        <p:txBody>
          <a:bodyPr wrap="square" rtlCol="0">
            <a:spAutoFit/>
          </a:bodyPr>
          <a:lstStyle/>
          <a:p>
            <a:r>
              <a:rPr lang="es-BO" dirty="0"/>
              <a:t>S</a:t>
            </a:r>
            <a:r>
              <a:rPr lang="es-BO" dirty="0">
                <a:latin typeface="Arial" panose="020B0604020202020204" pitchFamily="34" charset="0"/>
                <a:cs typeface="Arial" panose="020B0604020202020204" pitchFamily="34" charset="0"/>
              </a:rPr>
              <a:t>e usará en la aplicación de sublime </a:t>
            </a:r>
            <a:r>
              <a:rPr lang="es-BO" dirty="0" err="1">
                <a:latin typeface="Arial" panose="020B0604020202020204" pitchFamily="34" charset="0"/>
                <a:cs typeface="Arial" panose="020B0604020202020204" pitchFamily="34" charset="0"/>
              </a:rPr>
              <a:t>text</a:t>
            </a:r>
            <a:r>
              <a:rPr lang="es-BO" dirty="0">
                <a:latin typeface="Arial" panose="020B0604020202020204" pitchFamily="34" charset="0"/>
                <a:cs typeface="Arial" panose="020B0604020202020204" pitchFamily="34" charset="0"/>
              </a:rPr>
              <a:t> los siguientes formas de codificación : HTML, JavaScript, CSS, para tratar de cubrir falencias de atención y hacerla lo más dinámica y atractiva a la vista posible</a:t>
            </a:r>
            <a:endParaRPr lang="es-ES" dirty="0">
              <a:latin typeface="Arial" panose="020B0604020202020204" pitchFamily="34" charset="0"/>
              <a:cs typeface="Arial" panose="020B0604020202020204" pitchFamily="34" charset="0"/>
            </a:endParaRPr>
          </a:p>
          <a:p>
            <a:endParaRPr lang="es-ES" dirty="0">
              <a:latin typeface="Arial" panose="020B0604020202020204" pitchFamily="34" charset="0"/>
              <a:cs typeface="Arial" panose="020B0604020202020204" pitchFamily="34" charset="0"/>
            </a:endParaRPr>
          </a:p>
        </p:txBody>
      </p:sp>
      <p:sp>
        <p:nvSpPr>
          <p:cNvPr id="5" name="CuadroTexto 4"/>
          <p:cNvSpPr txBox="1"/>
          <p:nvPr/>
        </p:nvSpPr>
        <p:spPr>
          <a:xfrm>
            <a:off x="1823408" y="3167270"/>
            <a:ext cx="8712070" cy="922020"/>
          </a:xfrm>
          <a:prstGeom prst="rect">
            <a:avLst/>
          </a:prstGeom>
          <a:noFill/>
        </p:spPr>
        <p:txBody>
          <a:bodyPr wrap="square" rtlCol="0">
            <a:spAutoFit/>
          </a:bodyPr>
          <a:lstStyle/>
          <a:p>
            <a:r>
              <a:rPr lang="es-BO" dirty="0">
                <a:latin typeface="Arial" panose="020B0604020202020204" pitchFamily="34" charset="0"/>
                <a:cs typeface="Arial" panose="020B0604020202020204" pitchFamily="34" charset="0"/>
              </a:rPr>
              <a:t>A la creación de este sitio web, se evitaran gastos por los cuales pueden ver </a:t>
            </a:r>
            <a:r>
              <a:rPr lang="es-BO" dirty="0" err="1">
                <a:latin typeface="Arial" panose="020B0604020202020204" pitchFamily="34" charset="0"/>
                <a:cs typeface="Arial" panose="020B0604020202020204" pitchFamily="34" charset="0"/>
              </a:rPr>
              <a:t>polemicas</a:t>
            </a:r>
            <a:r>
              <a:rPr lang="es-BO" dirty="0">
                <a:latin typeface="Arial" panose="020B0604020202020204" pitchFamily="34" charset="0"/>
                <a:cs typeface="Arial" panose="020B0604020202020204" pitchFamily="34" charset="0"/>
              </a:rPr>
              <a:t> entre padres y juntas, como contratar técnicos, cuotas diarias/semanales a padres que no es de su agrado, etc.</a:t>
            </a:r>
            <a:endParaRPr lang="es-ES" dirty="0">
              <a:latin typeface="Arial" panose="020B0604020202020204" pitchFamily="34" charset="0"/>
              <a:cs typeface="Arial" panose="020B0604020202020204" pitchFamily="34" charset="0"/>
            </a:endParaRPr>
          </a:p>
        </p:txBody>
      </p:sp>
      <p:sp>
        <p:nvSpPr>
          <p:cNvPr id="7" name="CuadroTexto 6"/>
          <p:cNvSpPr txBox="1"/>
          <p:nvPr/>
        </p:nvSpPr>
        <p:spPr>
          <a:xfrm>
            <a:off x="1823408" y="4890052"/>
            <a:ext cx="8619305" cy="1476375"/>
          </a:xfrm>
          <a:prstGeom prst="rect">
            <a:avLst/>
          </a:prstGeom>
          <a:noFill/>
        </p:spPr>
        <p:txBody>
          <a:bodyPr wrap="square" rtlCol="0">
            <a:spAutoFit/>
          </a:bodyPr>
          <a:lstStyle/>
          <a:p>
            <a:r>
              <a:rPr lang="es-BO" dirty="0">
                <a:latin typeface="Arial" panose="020B0604020202020204" pitchFamily="34" charset="0"/>
                <a:cs typeface="Arial" panose="020B0604020202020204" pitchFamily="34" charset="0"/>
              </a:rPr>
              <a:t>Este Proyecto de Emprendimiento Productivo influencia al área de ciencias naturales/biología, ayudando al aprendizaje rápido/a su propio ritmo, sin que el estudiante sea forzado a aprender temas o artículos sin que haya aprendido el anterior, por lo cual cada uno no será estresado.</a:t>
            </a:r>
            <a:endParaRPr lang="es-ES" dirty="0">
              <a:latin typeface="Arial" panose="020B0604020202020204" pitchFamily="34" charset="0"/>
              <a:cs typeface="Arial" panose="020B0604020202020204" pitchFamily="34" charset="0"/>
            </a:endParaRPr>
          </a:p>
          <a:p>
            <a:endParaRPr lang="es-ES"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1805229" y="149632"/>
            <a:ext cx="8581542" cy="1100685"/>
          </a:xfrm>
          <a:prstGeom prst="rect">
            <a:avLst/>
          </a:prstGeom>
          <a:solidFill>
            <a:schemeClr val="accent2">
              <a:lumMod val="75000"/>
            </a:schemeClr>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CAPITULO II</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MARCO METODOLÓGICO CONCEPTUAL</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8" name="object 2"/>
          <p:cNvSpPr txBox="1"/>
          <p:nvPr/>
        </p:nvSpPr>
        <p:spPr>
          <a:xfrm>
            <a:off x="1820204" y="1304777"/>
            <a:ext cx="9684408" cy="444095"/>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s-BO" sz="2000" b="1" dirty="0"/>
              <a:t>La educación primaria y el área de ciencias naturales en el contexto urbano</a:t>
            </a:r>
            <a:endParaRPr lang="es-BO" sz="2000" b="1" dirty="0"/>
          </a:p>
        </p:txBody>
      </p:sp>
      <p:sp>
        <p:nvSpPr>
          <p:cNvPr id="9" name="object 2"/>
          <p:cNvSpPr txBox="1"/>
          <p:nvPr/>
        </p:nvSpPr>
        <p:spPr>
          <a:xfrm>
            <a:off x="1820204" y="2923350"/>
            <a:ext cx="9088060" cy="505650"/>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El </a:t>
            </a:r>
            <a:r>
              <a:rPr lang="en-US" sz="24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modelo</a:t>
            </a:r>
            <a:r>
              <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4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educativo</a:t>
            </a:r>
            <a:r>
              <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4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sociocomunitario</a:t>
            </a:r>
            <a:r>
              <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4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productivo</a:t>
            </a:r>
            <a:endPar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0" name="object 2"/>
          <p:cNvSpPr txBox="1"/>
          <p:nvPr/>
        </p:nvSpPr>
        <p:spPr>
          <a:xfrm>
            <a:off x="1728650" y="4521130"/>
            <a:ext cx="9235555" cy="505650"/>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4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Contenidos</a:t>
            </a:r>
            <a:r>
              <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24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ciencias</a:t>
            </a:r>
            <a:r>
              <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naturales 6º de </a:t>
            </a:r>
            <a:r>
              <a:rPr lang="en-US" sz="24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primaria</a:t>
            </a:r>
            <a:endParaRPr lang="en-US" sz="2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Título 2"/>
          <p:cNvSpPr>
            <a:spLocks noGrp="1"/>
          </p:cNvSpPr>
          <p:nvPr>
            <p:ph type="title"/>
          </p:nvPr>
        </p:nvSpPr>
        <p:spPr>
          <a:xfrm>
            <a:off x="3865134" y="6872250"/>
            <a:ext cx="8911687" cy="1280890"/>
          </a:xfrm>
        </p:spPr>
        <p:txBody>
          <a:bodyPr/>
          <a:lstStyle/>
          <a:p>
            <a:endParaRPr lang="es-ES" dirty="0"/>
          </a:p>
        </p:txBody>
      </p:sp>
      <p:sp>
        <p:nvSpPr>
          <p:cNvPr id="5" name="CuadroTexto 4"/>
          <p:cNvSpPr txBox="1"/>
          <p:nvPr/>
        </p:nvSpPr>
        <p:spPr>
          <a:xfrm>
            <a:off x="1672708" y="1844396"/>
            <a:ext cx="9989205" cy="829945"/>
          </a:xfrm>
          <a:prstGeom prst="rect">
            <a:avLst/>
          </a:prstGeom>
          <a:noFill/>
        </p:spPr>
        <p:txBody>
          <a:bodyPr wrap="square" rtlCol="0">
            <a:spAutoFit/>
          </a:bodyPr>
          <a:lstStyle/>
          <a:p>
            <a:r>
              <a:rPr lang="es-ES" sz="1600" dirty="0">
                <a:latin typeface="Arial" panose="020B0604020202020204" pitchFamily="34" charset="0"/>
                <a:cs typeface="Arial" panose="020B0604020202020204" pitchFamily="34" charset="0"/>
              </a:rPr>
              <a:t>El proyecto propone un </a:t>
            </a:r>
            <a:r>
              <a:rPr lang="es-ES" sz="1600" b="1" dirty="0">
                <a:latin typeface="Arial" panose="020B0604020202020204" pitchFamily="34" charset="0"/>
                <a:cs typeface="Arial" panose="020B0604020202020204" pitchFamily="34" charset="0"/>
              </a:rPr>
              <a:t>sitio web educativo con juegos interactivos</a:t>
            </a:r>
            <a:r>
              <a:rPr lang="es-ES" sz="1600" dirty="0">
                <a:latin typeface="Arial" panose="020B0604020202020204" pitchFamily="34" charset="0"/>
                <a:cs typeface="Arial" panose="020B0604020202020204" pitchFamily="34" charset="0"/>
              </a:rPr>
              <a:t>, creado con </a:t>
            </a:r>
            <a:r>
              <a:rPr lang="es-ES" sz="1600" b="1" dirty="0">
                <a:latin typeface="Arial" panose="020B0604020202020204" pitchFamily="34" charset="0"/>
                <a:cs typeface="Arial" panose="020B0604020202020204" pitchFamily="34" charset="0"/>
              </a:rPr>
              <a:t>HTML, CSS y JavaScript</a:t>
            </a:r>
            <a:r>
              <a:rPr lang="es-ES" sz="1600" dirty="0">
                <a:latin typeface="Arial" panose="020B0604020202020204" pitchFamily="34" charset="0"/>
                <a:cs typeface="Arial" panose="020B0604020202020204" pitchFamily="34" charset="0"/>
              </a:rPr>
              <a:t>, para reforzar Ciencias Naturales en </a:t>
            </a:r>
            <a:r>
              <a:rPr lang="es-ES" sz="1600" b="1" dirty="0">
                <a:latin typeface="Arial" panose="020B0604020202020204" pitchFamily="34" charset="0"/>
                <a:cs typeface="Arial" panose="020B0604020202020204" pitchFamily="34" charset="0"/>
              </a:rPr>
              <a:t>6.º de primaria</a:t>
            </a:r>
            <a:r>
              <a:rPr lang="es-ES" sz="1600" dirty="0">
                <a:latin typeface="Arial" panose="020B0604020202020204" pitchFamily="34" charset="0"/>
                <a:cs typeface="Arial" panose="020B0604020202020204" pitchFamily="34" charset="0"/>
              </a:rPr>
              <a:t>, mejorar la motivación y respetar el </a:t>
            </a:r>
            <a:r>
              <a:rPr lang="es-ES" sz="1600" b="1" dirty="0">
                <a:latin typeface="Arial" panose="020B0604020202020204" pitchFamily="34" charset="0"/>
                <a:cs typeface="Arial" panose="020B0604020202020204" pitchFamily="34" charset="0"/>
              </a:rPr>
              <a:t>ritmo de aprendizaje de cada estudiante,</a:t>
            </a:r>
            <a:r>
              <a:rPr lang="es-ES" sz="1600" dirty="0">
                <a:latin typeface="Arial" panose="020B0604020202020204" pitchFamily="34" charset="0"/>
                <a:cs typeface="Arial" panose="020B0604020202020204" pitchFamily="34" charset="0"/>
              </a:rPr>
              <a:t> </a:t>
            </a:r>
            <a:r>
              <a:rPr lang="es-ES" sz="1600" dirty="0" err="1">
                <a:latin typeface="Arial" panose="020B0604020202020204" pitchFamily="34" charset="0"/>
                <a:cs typeface="Arial" panose="020B0604020202020204" pitchFamily="34" charset="0"/>
              </a:rPr>
              <a:t>asi</a:t>
            </a:r>
            <a:r>
              <a:rPr lang="es-ES" sz="1600" dirty="0">
                <a:latin typeface="Arial" panose="020B0604020202020204" pitchFamily="34" charset="0"/>
                <a:cs typeface="Arial" panose="020B0604020202020204" pitchFamily="34" charset="0"/>
              </a:rPr>
              <a:t> denominándose este proyecto como un sitio web</a:t>
            </a:r>
            <a:endParaRPr lang="es-ES" sz="1600" dirty="0">
              <a:latin typeface="Arial" panose="020B0604020202020204" pitchFamily="34" charset="0"/>
              <a:cs typeface="Arial" panose="020B0604020202020204" pitchFamily="34" charset="0"/>
            </a:endParaRPr>
          </a:p>
        </p:txBody>
      </p:sp>
      <p:sp>
        <p:nvSpPr>
          <p:cNvPr id="7" name="CuadroTexto 6"/>
          <p:cNvSpPr txBox="1"/>
          <p:nvPr/>
        </p:nvSpPr>
        <p:spPr>
          <a:xfrm>
            <a:off x="1672708" y="3443912"/>
            <a:ext cx="9684408" cy="1076325"/>
          </a:xfrm>
          <a:prstGeom prst="rect">
            <a:avLst/>
          </a:prstGeom>
          <a:noFill/>
        </p:spPr>
        <p:txBody>
          <a:bodyPr wrap="square" rtlCol="0">
            <a:spAutoFit/>
          </a:bodyPr>
          <a:lstStyle/>
          <a:p>
            <a:r>
              <a:rPr lang="es-ES" sz="1600" dirty="0">
                <a:latin typeface="Arial" panose="020B0604020202020204" pitchFamily="34" charset="0"/>
                <a:cs typeface="Arial" panose="020B0604020202020204" pitchFamily="34" charset="0"/>
              </a:rPr>
              <a:t>El proyecto propone un </a:t>
            </a:r>
            <a:r>
              <a:rPr lang="es-ES" sz="1600" b="1" dirty="0">
                <a:latin typeface="Arial" panose="020B0604020202020204" pitchFamily="34" charset="0"/>
                <a:cs typeface="Arial" panose="020B0604020202020204" pitchFamily="34" charset="0"/>
              </a:rPr>
              <a:t>sitio web educativo con juegos interactivos</a:t>
            </a:r>
            <a:r>
              <a:rPr lang="es-ES" sz="1600" dirty="0">
                <a:latin typeface="Arial" panose="020B0604020202020204" pitchFamily="34" charset="0"/>
                <a:cs typeface="Arial" panose="020B0604020202020204" pitchFamily="34" charset="0"/>
              </a:rPr>
              <a:t>, usando </a:t>
            </a:r>
            <a:r>
              <a:rPr lang="es-ES" sz="1600" b="1" dirty="0">
                <a:latin typeface="Arial" panose="020B0604020202020204" pitchFamily="34" charset="0"/>
                <a:cs typeface="Arial" panose="020B0604020202020204" pitchFamily="34" charset="0"/>
              </a:rPr>
              <a:t>HTML, CSS y JavaScript</a:t>
            </a:r>
            <a:r>
              <a:rPr lang="es-ES" sz="1600" dirty="0">
                <a:latin typeface="Arial" panose="020B0604020202020204" pitchFamily="34" charset="0"/>
                <a:cs typeface="Arial" panose="020B0604020202020204" pitchFamily="34" charset="0"/>
              </a:rPr>
              <a:t>, para mejorar el aprendizaje de </a:t>
            </a:r>
            <a:r>
              <a:rPr lang="es-ES" sz="1600" b="1" dirty="0">
                <a:latin typeface="Arial" panose="020B0604020202020204" pitchFamily="34" charset="0"/>
                <a:cs typeface="Arial" panose="020B0604020202020204" pitchFamily="34" charset="0"/>
              </a:rPr>
              <a:t>Ciencias Naturales en 6.º de primaria</a:t>
            </a:r>
            <a:r>
              <a:rPr lang="es-ES" sz="1600" dirty="0">
                <a:latin typeface="Arial" panose="020B0604020202020204" pitchFamily="34" charset="0"/>
                <a:cs typeface="Arial" panose="020B0604020202020204" pitchFamily="34" charset="0"/>
              </a:rPr>
              <a:t>, aumentando la motivación, la atención y respetando el </a:t>
            </a:r>
            <a:r>
              <a:rPr lang="es-ES" sz="1600" b="1" dirty="0">
                <a:latin typeface="Arial" panose="020B0604020202020204" pitchFamily="34" charset="0"/>
                <a:cs typeface="Arial" panose="020B0604020202020204" pitchFamily="34" charset="0"/>
              </a:rPr>
              <a:t>ritmo de cada estudiante,</a:t>
            </a:r>
            <a:r>
              <a:rPr lang="es-ES" sz="1600" dirty="0">
                <a:latin typeface="Arial" panose="020B0604020202020204" pitchFamily="34" charset="0"/>
                <a:cs typeface="Arial" panose="020B0604020202020204" pitchFamily="34" charset="0"/>
              </a:rPr>
              <a:t> por lo que esta se </a:t>
            </a:r>
            <a:r>
              <a:rPr lang="es-ES" sz="1600" dirty="0" err="1">
                <a:latin typeface="Arial" panose="020B0604020202020204" pitchFamily="34" charset="0"/>
                <a:cs typeface="Arial" panose="020B0604020202020204" pitchFamily="34" charset="0"/>
              </a:rPr>
              <a:t>condera</a:t>
            </a:r>
            <a:r>
              <a:rPr lang="es-ES" sz="1600" dirty="0">
                <a:latin typeface="Arial" panose="020B0604020202020204" pitchFamily="34" charset="0"/>
                <a:cs typeface="Arial" panose="020B0604020202020204" pitchFamily="34" charset="0"/>
              </a:rPr>
              <a:t> oficialmente una pagina web dinámica.</a:t>
            </a:r>
            <a:endParaRPr lang="es-ES" sz="1600" dirty="0">
              <a:latin typeface="Arial" panose="020B0604020202020204" pitchFamily="34" charset="0"/>
              <a:cs typeface="Arial" panose="020B0604020202020204" pitchFamily="34" charset="0"/>
            </a:endParaRPr>
          </a:p>
        </p:txBody>
      </p:sp>
      <p:sp>
        <p:nvSpPr>
          <p:cNvPr id="11" name="CuadroTexto 10"/>
          <p:cNvSpPr txBox="1"/>
          <p:nvPr/>
        </p:nvSpPr>
        <p:spPr>
          <a:xfrm>
            <a:off x="1672708" y="5059739"/>
            <a:ext cx="9088060" cy="1076325"/>
          </a:xfrm>
          <a:prstGeom prst="rect">
            <a:avLst/>
          </a:prstGeom>
          <a:noFill/>
        </p:spPr>
        <p:txBody>
          <a:bodyPr wrap="square" rtlCol="0">
            <a:spAutoFit/>
          </a:bodyPr>
          <a:lstStyle/>
          <a:p>
            <a:r>
              <a:rPr lang="es-ES" sz="1600" dirty="0">
                <a:latin typeface="Arial" panose="020B0604020202020204" pitchFamily="34" charset="0"/>
                <a:cs typeface="Arial" panose="020B0604020202020204" pitchFamily="34" charset="0"/>
              </a:rPr>
              <a:t>El proyecto consiste en un </a:t>
            </a:r>
            <a:r>
              <a:rPr lang="es-ES" sz="1600" b="1" dirty="0">
                <a:latin typeface="Arial" panose="020B0604020202020204" pitchFamily="34" charset="0"/>
                <a:cs typeface="Arial" panose="020B0604020202020204" pitchFamily="34" charset="0"/>
              </a:rPr>
              <a:t>sitio web educativo interactivo</a:t>
            </a:r>
            <a:r>
              <a:rPr lang="es-ES" sz="1600" dirty="0">
                <a:latin typeface="Arial" panose="020B0604020202020204" pitchFamily="34" charset="0"/>
                <a:cs typeface="Arial" panose="020B0604020202020204" pitchFamily="34" charset="0"/>
              </a:rPr>
              <a:t> para enseñar </a:t>
            </a:r>
            <a:r>
              <a:rPr lang="es-ES" sz="1600" b="1" dirty="0">
                <a:latin typeface="Arial" panose="020B0604020202020204" pitchFamily="34" charset="0"/>
                <a:cs typeface="Arial" panose="020B0604020202020204" pitchFamily="34" charset="0"/>
              </a:rPr>
              <a:t>Ciencias Naturales a 6.º de primaria</a:t>
            </a:r>
            <a:r>
              <a:rPr lang="es-ES" sz="1600" dirty="0">
                <a:latin typeface="Arial" panose="020B0604020202020204" pitchFamily="34" charset="0"/>
                <a:cs typeface="Arial" panose="020B0604020202020204" pitchFamily="34" charset="0"/>
              </a:rPr>
              <a:t>, utilizando </a:t>
            </a:r>
            <a:r>
              <a:rPr lang="es-ES" sz="1600" b="1" dirty="0">
                <a:latin typeface="Arial" panose="020B0604020202020204" pitchFamily="34" charset="0"/>
                <a:cs typeface="Arial" panose="020B0604020202020204" pitchFamily="34" charset="0"/>
              </a:rPr>
              <a:t>juegos y tecnología (HTML, CSS y JavaScript)</a:t>
            </a:r>
            <a:r>
              <a:rPr lang="es-ES" sz="1600" dirty="0">
                <a:latin typeface="Arial" panose="020B0604020202020204" pitchFamily="34" charset="0"/>
                <a:cs typeface="Arial" panose="020B0604020202020204" pitchFamily="34" charset="0"/>
              </a:rPr>
              <a:t> para mejorar la motivación, el aprendizaje y respetar el ritmo de cada estudiante, al ser un sitio web </a:t>
            </a:r>
            <a:r>
              <a:rPr lang="es-ES" sz="1600" dirty="0" err="1">
                <a:latin typeface="Arial" panose="020B0604020202020204" pitchFamily="34" charset="0"/>
                <a:cs typeface="Arial" panose="020B0604020202020204" pitchFamily="34" charset="0"/>
              </a:rPr>
              <a:t>dinamico</a:t>
            </a:r>
            <a:r>
              <a:rPr lang="es-ES" sz="1600" dirty="0">
                <a:latin typeface="Arial" panose="020B0604020202020204" pitchFamily="34" charset="0"/>
                <a:cs typeface="Arial" panose="020B0604020202020204" pitchFamily="34" charset="0"/>
              </a:rPr>
              <a:t>, este </a:t>
            </a:r>
            <a:r>
              <a:rPr lang="es-ES" sz="1600" dirty="0" err="1">
                <a:latin typeface="Arial" panose="020B0604020202020204" pitchFamily="34" charset="0"/>
                <a:cs typeface="Arial" panose="020B0604020202020204" pitchFamily="34" charset="0"/>
              </a:rPr>
              <a:t>sera</a:t>
            </a:r>
            <a:r>
              <a:rPr lang="es-ES" sz="1600" dirty="0">
                <a:latin typeface="Arial" panose="020B0604020202020204" pitchFamily="34" charset="0"/>
                <a:cs typeface="Arial" panose="020B0604020202020204" pitchFamily="34" charset="0"/>
              </a:rPr>
              <a:t> un 60% mas efectivo que el método convencional de libros.</a:t>
            </a:r>
            <a:endParaRPr lang="es-ES" sz="16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p:nvPr/>
        </p:nvSpPr>
        <p:spPr>
          <a:xfrm>
            <a:off x="1805230" y="143851"/>
            <a:ext cx="5572755" cy="505650"/>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4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Lenguaje</a:t>
            </a:r>
            <a:r>
              <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de </a:t>
            </a:r>
            <a:r>
              <a:rPr lang="en-US" sz="24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programacion</a:t>
            </a:r>
            <a:r>
              <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web</a:t>
            </a:r>
            <a:endParaRPr lang="en-US" sz="2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0" name="object 2"/>
          <p:cNvSpPr txBox="1"/>
          <p:nvPr/>
        </p:nvSpPr>
        <p:spPr>
          <a:xfrm>
            <a:off x="1830630" y="1966196"/>
            <a:ext cx="2335496"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HTML</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object 2"/>
          <p:cNvSpPr txBox="1"/>
          <p:nvPr/>
        </p:nvSpPr>
        <p:spPr>
          <a:xfrm>
            <a:off x="1805230" y="4872693"/>
            <a:ext cx="2335496"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SUBTITULO</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object 2"/>
          <p:cNvSpPr txBox="1"/>
          <p:nvPr/>
        </p:nvSpPr>
        <p:spPr>
          <a:xfrm>
            <a:off x="1805230" y="3223156"/>
            <a:ext cx="2335496"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err="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Javascript</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Título 2"/>
          <p:cNvSpPr>
            <a:spLocks noGrp="1"/>
          </p:cNvSpPr>
          <p:nvPr>
            <p:ph type="title"/>
          </p:nvPr>
        </p:nvSpPr>
        <p:spPr>
          <a:xfrm flipV="1">
            <a:off x="14360856" y="-1156254"/>
            <a:ext cx="256291" cy="84335"/>
          </a:xfrm>
        </p:spPr>
        <p:txBody>
          <a:bodyPr>
            <a:normAutofit fontScale="90000"/>
          </a:bodyPr>
          <a:lstStyle/>
          <a:p>
            <a:endParaRPr lang="es-ES" dirty="0"/>
          </a:p>
        </p:txBody>
      </p:sp>
      <p:sp>
        <p:nvSpPr>
          <p:cNvPr id="4" name="CuadroTexto 3"/>
          <p:cNvSpPr txBox="1"/>
          <p:nvPr/>
        </p:nvSpPr>
        <p:spPr>
          <a:xfrm>
            <a:off x="1830630" y="759012"/>
            <a:ext cx="9469716" cy="922020"/>
          </a:xfrm>
          <a:prstGeom prst="rect">
            <a:avLst/>
          </a:prstGeom>
          <a:noFill/>
        </p:spPr>
        <p:txBody>
          <a:bodyPr wrap="square" rtlCol="0">
            <a:spAutoFit/>
          </a:bodyPr>
          <a:lstStyle/>
          <a:p>
            <a:r>
              <a:rPr lang="es-ES" dirty="0">
                <a:latin typeface="Arial" panose="020B0604020202020204" pitchFamily="34" charset="0"/>
                <a:cs typeface="Arial" panose="020B0604020202020204" pitchFamily="34" charset="0"/>
              </a:rPr>
              <a:t>Nuestro sitio web usara los siguientes tipos de lenguaje de programación web : HTML y </a:t>
            </a:r>
            <a:r>
              <a:rPr lang="es-ES" dirty="0" err="1">
                <a:latin typeface="Arial" panose="020B0604020202020204" pitchFamily="34" charset="0"/>
                <a:cs typeface="Arial" panose="020B0604020202020204" pitchFamily="34" charset="0"/>
              </a:rPr>
              <a:t>Javascript</a:t>
            </a:r>
            <a:r>
              <a:rPr lang="es-ES" dirty="0">
                <a:latin typeface="Arial" panose="020B0604020202020204" pitchFamily="34" charset="0"/>
                <a:cs typeface="Arial" panose="020B0604020202020204" pitchFamily="34" charset="0"/>
              </a:rPr>
              <a:t> , </a:t>
            </a:r>
            <a:r>
              <a:rPr lang="es-ES" dirty="0" err="1">
                <a:latin typeface="Arial" panose="020B0604020202020204" pitchFamily="34" charset="0"/>
                <a:cs typeface="Arial" panose="020B0604020202020204" pitchFamily="34" charset="0"/>
              </a:rPr>
              <a:t>html</a:t>
            </a:r>
            <a:r>
              <a:rPr lang="es-ES" dirty="0">
                <a:latin typeface="Arial" panose="020B0604020202020204" pitchFamily="34" charset="0"/>
                <a:cs typeface="Arial" panose="020B0604020202020204" pitchFamily="34" charset="0"/>
              </a:rPr>
              <a:t> siendo la base del </a:t>
            </a:r>
            <a:r>
              <a:rPr lang="es-ES" dirty="0" err="1">
                <a:latin typeface="Arial" panose="020B0604020202020204" pitchFamily="34" charset="0"/>
                <a:cs typeface="Arial" panose="020B0604020202020204" pitchFamily="34" charset="0"/>
              </a:rPr>
              <a:t>projecto</a:t>
            </a:r>
            <a:r>
              <a:rPr lang="es-ES" dirty="0">
                <a:latin typeface="Arial" panose="020B0604020202020204" pitchFamily="34" charset="0"/>
                <a:cs typeface="Arial" panose="020B0604020202020204" pitchFamily="34" charset="0"/>
              </a:rPr>
              <a:t> y </a:t>
            </a:r>
            <a:r>
              <a:rPr lang="es-ES" dirty="0" err="1">
                <a:latin typeface="Arial" panose="020B0604020202020204" pitchFamily="34" charset="0"/>
                <a:cs typeface="Arial" panose="020B0604020202020204" pitchFamily="34" charset="0"/>
              </a:rPr>
              <a:t>javascript</a:t>
            </a:r>
            <a:r>
              <a:rPr lang="es-ES" dirty="0">
                <a:latin typeface="Arial" panose="020B0604020202020204" pitchFamily="34" charset="0"/>
                <a:cs typeface="Arial" panose="020B0604020202020204" pitchFamily="34" charset="0"/>
              </a:rPr>
              <a:t> siendo el código de diseño especializado en hacer a las paginas/ sitios web dinámicos e influyentes</a:t>
            </a:r>
            <a:endParaRPr lang="es-ES" dirty="0">
              <a:latin typeface="Arial" panose="020B0604020202020204" pitchFamily="34" charset="0"/>
              <a:cs typeface="Arial" panose="020B0604020202020204" pitchFamily="34" charset="0"/>
            </a:endParaRPr>
          </a:p>
        </p:txBody>
      </p:sp>
      <p:sp>
        <p:nvSpPr>
          <p:cNvPr id="7" name="CuadroTexto 6"/>
          <p:cNvSpPr txBox="1"/>
          <p:nvPr/>
        </p:nvSpPr>
        <p:spPr>
          <a:xfrm>
            <a:off x="1830630" y="2442949"/>
            <a:ext cx="9319591" cy="645160"/>
          </a:xfrm>
          <a:prstGeom prst="rect">
            <a:avLst/>
          </a:prstGeom>
          <a:noFill/>
        </p:spPr>
        <p:txBody>
          <a:bodyPr wrap="square" rtlCol="0">
            <a:spAutoFit/>
          </a:bodyPr>
          <a:lstStyle/>
          <a:p>
            <a:r>
              <a:rPr lang="es-ES" dirty="0" err="1">
                <a:latin typeface="Arial" panose="020B0604020202020204" pitchFamily="34" charset="0"/>
                <a:cs typeface="Arial" panose="020B0604020202020204" pitchFamily="34" charset="0"/>
              </a:rPr>
              <a:t>Html</a:t>
            </a:r>
            <a:r>
              <a:rPr lang="es-ES" dirty="0">
                <a:latin typeface="Arial" panose="020B0604020202020204" pitchFamily="34" charset="0"/>
                <a:cs typeface="Arial" panose="020B0604020202020204" pitchFamily="34" charset="0"/>
              </a:rPr>
              <a:t> al ser básicamente la columna vertebral de nuestro </a:t>
            </a:r>
            <a:r>
              <a:rPr lang="es-ES" dirty="0" err="1">
                <a:latin typeface="Arial" panose="020B0604020202020204" pitchFamily="34" charset="0"/>
                <a:cs typeface="Arial" panose="020B0604020202020204" pitchFamily="34" charset="0"/>
              </a:rPr>
              <a:t>proejcto</a:t>
            </a:r>
            <a:r>
              <a:rPr lang="es-ES" dirty="0">
                <a:latin typeface="Arial" panose="020B0604020202020204" pitchFamily="34" charset="0"/>
                <a:cs typeface="Arial" panose="020B0604020202020204" pitchFamily="34" charset="0"/>
              </a:rPr>
              <a:t>, en este se codificaran cosas como animaciones, cuadros, sub paginas </a:t>
            </a:r>
            <a:r>
              <a:rPr lang="es-ES" dirty="0" err="1">
                <a:latin typeface="Arial" panose="020B0604020202020204" pitchFamily="34" charset="0"/>
                <a:cs typeface="Arial" panose="020B0604020202020204" pitchFamily="34" charset="0"/>
              </a:rPr>
              <a:t>etc</a:t>
            </a:r>
            <a:endParaRPr lang="es-ES" dirty="0">
              <a:latin typeface="Arial" panose="020B0604020202020204" pitchFamily="34" charset="0"/>
              <a:cs typeface="Arial" panose="020B0604020202020204" pitchFamily="34" charset="0"/>
            </a:endParaRPr>
          </a:p>
        </p:txBody>
      </p:sp>
      <p:sp>
        <p:nvSpPr>
          <p:cNvPr id="11" name="CuadroTexto 10"/>
          <p:cNvSpPr txBox="1"/>
          <p:nvPr/>
        </p:nvSpPr>
        <p:spPr>
          <a:xfrm>
            <a:off x="1830630" y="3849887"/>
            <a:ext cx="9660785" cy="645160"/>
          </a:xfrm>
          <a:prstGeom prst="rect">
            <a:avLst/>
          </a:prstGeom>
          <a:noFill/>
        </p:spPr>
        <p:txBody>
          <a:bodyPr wrap="square" rtlCol="0">
            <a:spAutoFit/>
          </a:bodyPr>
          <a:lstStyle/>
          <a:p>
            <a:r>
              <a:rPr lang="es-ES" dirty="0">
                <a:latin typeface="Arial" panose="020B0604020202020204" pitchFamily="34" charset="0"/>
                <a:cs typeface="Arial" panose="020B0604020202020204" pitchFamily="34" charset="0"/>
              </a:rPr>
              <a:t>Al ser un estilo de código complejo, este premia al usuario/s, con estilos únicos, animaciones, mecánicas </a:t>
            </a:r>
            <a:r>
              <a:rPr lang="es-ES" dirty="0" err="1">
                <a:latin typeface="Arial" panose="020B0604020202020204" pitchFamily="34" charset="0"/>
                <a:cs typeface="Arial" panose="020B0604020202020204" pitchFamily="34" charset="0"/>
              </a:rPr>
              <a:t>etc</a:t>
            </a:r>
            <a:r>
              <a:rPr lang="es-ES" dirty="0">
                <a:latin typeface="Arial" panose="020B0604020202020204" pitchFamily="34" charset="0"/>
                <a:cs typeface="Arial" panose="020B0604020202020204" pitchFamily="34" charset="0"/>
              </a:rPr>
              <a:t> </a:t>
            </a:r>
            <a:endParaRPr lang="es-ES"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a:xfrm>
            <a:off x="1805229" y="2148110"/>
            <a:ext cx="8911687" cy="2317874"/>
          </a:xfrm>
        </p:spPr>
        <p:txBody>
          <a:bodyPr>
            <a:normAutofit fontScale="90000"/>
          </a:bodyPr>
          <a:lstStyle/>
          <a:p>
            <a:br>
              <a:rPr lang="es-ES" dirty="0"/>
            </a:br>
            <a:r>
              <a:rPr lang="es-BO" sz="2000" dirty="0"/>
              <a:t>XXXXXXXXXXXXXXXXXXXXXXXXXXXXXXXXXXXXXXXXXXXXXXXXXXXXXXXXXXXXXXXXXXXXXXXXXXXXXXXXXXXXXXXXXXXXXXXXXXXXXXXXXXXXXXXX</a:t>
            </a:r>
            <a:br>
              <a:rPr lang="es-BO" sz="2000" dirty="0"/>
            </a:br>
            <a:br>
              <a:rPr lang="es-BO" sz="2000" dirty="0"/>
            </a:br>
            <a:r>
              <a:rPr lang="es-BO" sz="2200" b="1" dirty="0">
                <a:solidFill>
                  <a:srgbClr val="7030A0"/>
                </a:solidFill>
              </a:rPr>
              <a:t>(EXPLICAR AMPLIAMENTE COMO SE REALIZO LA PAGINA WEB, EN QUE LENGUAJES DE PROGRAMACION, INSERTAR IMÁGENES QR- LINK DE LA PAGINA WEB)󠇤</a:t>
            </a:r>
            <a:br>
              <a:rPr lang="es-BO" sz="2200" b="1" dirty="0">
                <a:solidFill>
                  <a:srgbClr val="7030A0"/>
                </a:solidFill>
              </a:rPr>
            </a:br>
            <a:br>
              <a:rPr lang="es-BO" sz="2000" b="1" dirty="0"/>
            </a:br>
            <a:br>
              <a:rPr lang="es-BO" sz="2000" b="1" dirty="0"/>
            </a:br>
            <a:r>
              <a:rPr lang="es-BO" sz="2700" b="1" dirty="0">
                <a:solidFill>
                  <a:srgbClr val="FF0000"/>
                </a:solidFill>
              </a:rPr>
              <a:t>(MOSTRAR LA PAGINA WEB REALIZADA Y EXPLICAR EN SU CABALIDAD ENLAZAR EL LINK )</a:t>
            </a:r>
            <a:endParaRPr lang="es-BO" sz="2700" b="1" dirty="0">
              <a:solidFill>
                <a:srgbClr val="FF0000"/>
              </a:solidFill>
            </a:endParaRPr>
          </a:p>
        </p:txBody>
      </p:sp>
      <p:sp>
        <p:nvSpPr>
          <p:cNvPr id="6" name="object 2"/>
          <p:cNvSpPr txBox="1"/>
          <p:nvPr/>
        </p:nvSpPr>
        <p:spPr>
          <a:xfrm>
            <a:off x="1805229" y="584153"/>
            <a:ext cx="8581542" cy="1100685"/>
          </a:xfrm>
          <a:prstGeom prst="rect">
            <a:avLst/>
          </a:prstGeom>
          <a:solidFill>
            <a:schemeClr val="accent2">
              <a:lumMod val="75000"/>
            </a:schemeClr>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CAPITULO III</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PROPUESTA DE SOLUCIÓN AL PROBLEMA</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7" name="object 2"/>
          <p:cNvSpPr txBox="1"/>
          <p:nvPr/>
        </p:nvSpPr>
        <p:spPr>
          <a:xfrm>
            <a:off x="1805228" y="2148109"/>
            <a:ext cx="8911687"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DESCRIPCIÓN DE LA PROPUESTA DE SOLUCIÓN</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2" name="Imagen 1"/>
          <p:cNvPicPr>
            <a:picLocks noChangeAspect="1"/>
          </p:cNvPicPr>
          <p:nvPr/>
        </p:nvPicPr>
        <p:blipFill rotWithShape="1">
          <a:blip r:embed="rId1"/>
          <a:srcRect l="18231" t="3790" r="17268" b="6438"/>
          <a:stretch>
            <a:fillRect/>
          </a:stretch>
        </p:blipFill>
        <p:spPr>
          <a:xfrm flipV="1">
            <a:off x="6413500" y="5562600"/>
            <a:ext cx="1270000" cy="8847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830925" y="2630710"/>
            <a:ext cx="8911687" cy="1280890"/>
          </a:xfrm>
        </p:spPr>
        <p:txBody>
          <a:bodyPr/>
          <a:lstStyle/>
          <a:p>
            <a:pPr algn="ctr"/>
            <a:r>
              <a:rPr lang="es-ES" dirty="0"/>
              <a:t>MOSTRAR PAGINA WEB</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5229" y="584153"/>
            <a:ext cx="5483467"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square" tIns="67500" bIns="67500">
            <a:spAutoFit/>
          </a:body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RESULTADOS ESPERADOS</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4" name="object 7"/>
          <p:cNvSpPr txBox="1"/>
          <p:nvPr/>
        </p:nvSpPr>
        <p:spPr>
          <a:xfrm>
            <a:off x="1580197" y="1388269"/>
            <a:ext cx="9351660" cy="2228174"/>
          </a:xfrm>
          <a:prstGeom prst="rect">
            <a:avLst/>
          </a:prstGeom>
        </p:spPr>
        <p:txBody>
          <a:bodyPr vert="horz" wrap="square" lIns="0" tIns="12065" rIns="0" bIns="0" rtlCol="0">
            <a:spAutoFit/>
          </a:bodyPr>
          <a:lstStyle/>
          <a:p>
            <a:pPr marL="12700" marR="5080" algn="just">
              <a:lnSpc>
                <a:spcPct val="150000"/>
              </a:lnSpc>
              <a:spcAft>
                <a:spcPts val="1200"/>
              </a:spcAft>
            </a:pPr>
            <a:r>
              <a:rPr lang="es-ES" sz="2400" spc="-5" dirty="0">
                <a:latin typeface="Arial" panose="020B0604020202020204" pitchFamily="34" charset="0"/>
                <a:cs typeface="Arial" panose="020B0604020202020204" pitchFamily="34" charset="0"/>
              </a:rPr>
              <a:t>(E</a:t>
            </a:r>
            <a:r>
              <a:rPr lang="es-BO" sz="2400" spc="-5" dirty="0">
                <a:latin typeface="Arial" panose="020B0604020202020204" pitchFamily="34" charset="0"/>
                <a:cs typeface="Arial" panose="020B0604020202020204" pitchFamily="34" charset="0"/>
              </a:rPr>
              <a:t>XPLICAR Y MOSTRAR FOTOGRAFIAS DE EVIDENCIA QUE SU PAGINA WEB FUE APLICADA AL GRUPO DE MUESTRA DONDE SE IDENTIFICO EL PROBLEMA Y EXPLICAR DE QUÉ MANERA AYUDO Y/O BENEFICIÓ A ESTE GRUPO)</a:t>
            </a:r>
            <a:endParaRPr lang="es-BO" sz="2400"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7"/>
          <p:cNvSpPr txBox="1"/>
          <p:nvPr/>
        </p:nvSpPr>
        <p:spPr>
          <a:xfrm>
            <a:off x="1580197" y="1388269"/>
            <a:ext cx="9351660" cy="1674176"/>
          </a:xfrm>
          <a:prstGeom prst="rect">
            <a:avLst/>
          </a:prstGeom>
        </p:spPr>
        <p:txBody>
          <a:bodyPr vert="horz" wrap="square" lIns="0" tIns="12065" rIns="0" bIns="0" rtlCol="0">
            <a:spAutoFit/>
          </a:bodyPr>
          <a:lstStyle/>
          <a:p>
            <a:pPr marL="12700" marR="5080" algn="just">
              <a:lnSpc>
                <a:spcPct val="150000"/>
              </a:lnSpc>
              <a:spcAft>
                <a:spcPts val="1200"/>
              </a:spcAft>
            </a:pPr>
            <a:r>
              <a:rPr lang="es-ES" sz="2400" spc="-5" dirty="0">
                <a:latin typeface="Arial" panose="020B0604020202020204" pitchFamily="34" charset="0"/>
                <a:cs typeface="Arial" panose="020B0604020202020204" pitchFamily="34" charset="0"/>
              </a:rPr>
              <a:t>(</a:t>
            </a:r>
            <a:r>
              <a:rPr lang="es-BO" sz="2400" spc="-5" dirty="0">
                <a:latin typeface="Arial" panose="020B0604020202020204" pitchFamily="34" charset="0"/>
                <a:cs typeface="Arial" panose="020B0604020202020204" pitchFamily="34" charset="0"/>
              </a:rPr>
              <a:t>FOTOGRAFIAS DE EVIDENCIA QUE SU PAGINA WEB FUE APLICADA AL GRUPO DE MUESTRA DONDE SE IDENTIFICO EL PROBLEMA</a:t>
            </a:r>
            <a:r>
              <a:rPr lang="es-ES" sz="2400" spc="-5" dirty="0">
                <a:latin typeface="Arial" panose="020B0604020202020204" pitchFamily="34" charset="0"/>
                <a:cs typeface="Arial" panose="020B0604020202020204" pitchFamily="34" charset="0"/>
              </a:rPr>
              <a:t> </a:t>
            </a:r>
            <a:r>
              <a:rPr lang="es-BO" sz="2400" spc="-5" dirty="0">
                <a:latin typeface="Arial" panose="020B0604020202020204" pitchFamily="34" charset="0"/>
                <a:cs typeface="Arial" panose="020B0604020202020204" pitchFamily="34" charset="0"/>
              </a:rPr>
              <a:t>)</a:t>
            </a:r>
            <a:endParaRPr lang="es-BO" sz="2400"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7"/>
          <p:cNvSpPr txBox="1"/>
          <p:nvPr/>
        </p:nvSpPr>
        <p:spPr>
          <a:xfrm>
            <a:off x="1580197" y="1388269"/>
            <a:ext cx="9351660" cy="1674176"/>
          </a:xfrm>
          <a:prstGeom prst="rect">
            <a:avLst/>
          </a:prstGeom>
        </p:spPr>
        <p:txBody>
          <a:bodyPr vert="horz" wrap="square" lIns="0" tIns="12065" rIns="0" bIns="0" rtlCol="0">
            <a:spAutoFit/>
          </a:bodyPr>
          <a:lstStyle/>
          <a:p>
            <a:pPr marL="12700" marR="5080" algn="just">
              <a:lnSpc>
                <a:spcPct val="150000"/>
              </a:lnSpc>
              <a:spcAft>
                <a:spcPts val="1200"/>
              </a:spcAft>
            </a:pPr>
            <a:r>
              <a:rPr lang="es-ES" sz="2400" spc="-5" dirty="0">
                <a:latin typeface="Arial" panose="020B0604020202020204" pitchFamily="34" charset="0"/>
                <a:cs typeface="Arial" panose="020B0604020202020204" pitchFamily="34" charset="0"/>
              </a:rPr>
              <a:t>(</a:t>
            </a:r>
            <a:r>
              <a:rPr lang="es-BO" sz="2400" spc="-5" dirty="0">
                <a:latin typeface="Arial" panose="020B0604020202020204" pitchFamily="34" charset="0"/>
                <a:cs typeface="Arial" panose="020B0604020202020204" pitchFamily="34" charset="0"/>
              </a:rPr>
              <a:t>FOTOGRAFIAS DE EVIDENCIA QUE SU PAGINA WEB FUE APLICADA AL GRUPO DE MUESTRA DONDE SE IDENTIFICO EL PROBLEMA</a:t>
            </a:r>
            <a:r>
              <a:rPr lang="es-ES" sz="2400" spc="-5" dirty="0">
                <a:latin typeface="Arial" panose="020B0604020202020204" pitchFamily="34" charset="0"/>
                <a:cs typeface="Arial" panose="020B0604020202020204" pitchFamily="34" charset="0"/>
              </a:rPr>
              <a:t> </a:t>
            </a:r>
            <a:r>
              <a:rPr lang="es-BO" sz="2400" spc="-5" dirty="0">
                <a:latin typeface="Arial" panose="020B0604020202020204" pitchFamily="34" charset="0"/>
                <a:cs typeface="Arial" panose="020B0604020202020204" pitchFamily="34" charset="0"/>
              </a:rPr>
              <a:t>)</a:t>
            </a:r>
            <a:endParaRPr lang="es-BO" sz="2400" dirty="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7"/>
          <p:cNvSpPr txBox="1"/>
          <p:nvPr/>
        </p:nvSpPr>
        <p:spPr>
          <a:xfrm>
            <a:off x="1580197" y="1388269"/>
            <a:ext cx="9351660" cy="1674176"/>
          </a:xfrm>
          <a:prstGeom prst="rect">
            <a:avLst/>
          </a:prstGeom>
        </p:spPr>
        <p:txBody>
          <a:bodyPr vert="horz" wrap="square" lIns="0" tIns="12065" rIns="0" bIns="0" rtlCol="0">
            <a:spAutoFit/>
          </a:bodyPr>
          <a:lstStyle/>
          <a:p>
            <a:pPr marL="12700" marR="5080" algn="just">
              <a:lnSpc>
                <a:spcPct val="150000"/>
              </a:lnSpc>
              <a:spcAft>
                <a:spcPts val="1200"/>
              </a:spcAft>
            </a:pPr>
            <a:r>
              <a:rPr lang="es-ES" sz="2400" spc="-5" dirty="0">
                <a:latin typeface="Arial" panose="020B0604020202020204" pitchFamily="34" charset="0"/>
                <a:cs typeface="Arial" panose="020B0604020202020204" pitchFamily="34" charset="0"/>
              </a:rPr>
              <a:t>(</a:t>
            </a:r>
            <a:r>
              <a:rPr lang="es-BO" sz="2400" spc="-5" dirty="0">
                <a:latin typeface="Arial" panose="020B0604020202020204" pitchFamily="34" charset="0"/>
                <a:cs typeface="Arial" panose="020B0604020202020204" pitchFamily="34" charset="0"/>
              </a:rPr>
              <a:t>FOTOGRAFIAS DE EVIDENCIA QUE SU PAGINA WEB FUE APLICADA AL GRUPO DE MUESTRA DONDE SE IDENTIFICO EL PROBLEMA</a:t>
            </a:r>
            <a:r>
              <a:rPr lang="es-ES" sz="2400" spc="-5" dirty="0">
                <a:latin typeface="Arial" panose="020B0604020202020204" pitchFamily="34" charset="0"/>
                <a:cs typeface="Arial" panose="020B0604020202020204" pitchFamily="34" charset="0"/>
              </a:rPr>
              <a:t> </a:t>
            </a:r>
            <a:r>
              <a:rPr lang="es-BO" sz="2400" spc="-5" dirty="0">
                <a:latin typeface="Arial" panose="020B0604020202020204" pitchFamily="34" charset="0"/>
                <a:cs typeface="Arial" panose="020B0604020202020204" pitchFamily="34" charset="0"/>
              </a:rPr>
              <a:t>)</a:t>
            </a:r>
            <a:endParaRPr lang="es-BO" sz="2400" dirty="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5229" y="584153"/>
            <a:ext cx="3257101"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square" tIns="67500" bIns="67500">
            <a:spAutoFit/>
          </a:body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CRONOGRAMA</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pic>
        <p:nvPicPr>
          <p:cNvPr id="7" name="Imagen 6"/>
          <p:cNvPicPr>
            <a:picLocks noChangeAspect="1"/>
          </p:cNvPicPr>
          <p:nvPr/>
        </p:nvPicPr>
        <p:blipFill rotWithShape="1">
          <a:blip r:embed="rId1">
            <a:extLst>
              <a:ext uri="{28A0092B-C50C-407E-A947-70E740481C1C}">
                <a14:useLocalDpi xmlns:a14="http://schemas.microsoft.com/office/drawing/2010/main" val="0"/>
              </a:ext>
            </a:extLst>
          </a:blip>
          <a:srcRect l="31522" t="26848" r="30543" b="17279"/>
          <a:stretch>
            <a:fillRect/>
          </a:stretch>
        </p:blipFill>
        <p:spPr>
          <a:xfrm>
            <a:off x="1961322" y="1404731"/>
            <a:ext cx="8428382" cy="48691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p:nvPr/>
        </p:nvSpPr>
        <p:spPr>
          <a:xfrm>
            <a:off x="1619699" y="2001079"/>
            <a:ext cx="9508764" cy="3956276"/>
          </a:xfrm>
          <a:prstGeom prst="rect">
            <a:avLst/>
          </a:prstGeom>
        </p:spPr>
        <p:txBody>
          <a:bodyPr vert="horz" wrap="square" lIns="0" tIns="12065" rIns="0" bIns="0" rtlCol="0">
            <a:spAutoFit/>
          </a:bodyPr>
          <a:lstStyle/>
          <a:p>
            <a:pPr marL="12700" algn="just">
              <a:lnSpc>
                <a:spcPct val="150000"/>
              </a:lnSpc>
              <a:spcAft>
                <a:spcPts val="1200"/>
              </a:spcAft>
            </a:pPr>
            <a:endParaRPr lang="es-ES" sz="2000" dirty="0">
              <a:latin typeface="Arial" panose="020B0604020202020204" pitchFamily="34" charset="0"/>
              <a:cs typeface="Arial" panose="020B0604020202020204" pitchFamily="34" charset="0"/>
            </a:endParaRPr>
          </a:p>
          <a:p>
            <a:pPr marL="12700" algn="just">
              <a:lnSpc>
                <a:spcPct val="150000"/>
              </a:lnSpc>
              <a:spcAft>
                <a:spcPts val="1200"/>
              </a:spcAft>
            </a:pPr>
            <a:r>
              <a:rPr lang="es-BO" sz="2000" dirty="0">
                <a:latin typeface="Arial" panose="020B0604020202020204" pitchFamily="34" charset="0"/>
                <a:cs typeface="Arial" panose="020B0604020202020204" pitchFamily="34" charset="0"/>
              </a:rPr>
              <a:t>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a:t>
            </a:r>
            <a:endParaRPr lang="es-BO" sz="2000" dirty="0">
              <a:latin typeface="Arial" panose="020B0604020202020204" pitchFamily="34" charset="0"/>
              <a:cs typeface="Arial" panose="020B0604020202020204" pitchFamily="34" charset="0"/>
            </a:endParaRPr>
          </a:p>
          <a:p>
            <a:pPr marL="12700" algn="ctr">
              <a:lnSpc>
                <a:spcPct val="150000"/>
              </a:lnSpc>
              <a:spcAft>
                <a:spcPts val="1200"/>
              </a:spcAft>
            </a:pPr>
            <a:r>
              <a:rPr lang="es-BO" sz="2000" b="1" dirty="0">
                <a:latin typeface="Arial" panose="020B0604020202020204" pitchFamily="34" charset="0"/>
                <a:cs typeface="Arial" panose="020B0604020202020204" pitchFamily="34" charset="0"/>
              </a:rPr>
              <a:t>(COPIAR TODAS LAS CONCLUSIONES Y/O LOGROS OBTENIDOS)</a:t>
            </a:r>
            <a:endParaRPr lang="es-BO" sz="2000" b="1" dirty="0">
              <a:latin typeface="Arial" panose="020B0604020202020204" pitchFamily="34" charset="0"/>
              <a:cs typeface="Arial" panose="020B0604020202020204" pitchFamily="34" charset="0"/>
            </a:endParaRPr>
          </a:p>
        </p:txBody>
      </p:sp>
      <p:sp>
        <p:nvSpPr>
          <p:cNvPr id="6" name="object 2"/>
          <p:cNvSpPr txBox="1"/>
          <p:nvPr/>
        </p:nvSpPr>
        <p:spPr>
          <a:xfrm>
            <a:off x="1805229" y="584153"/>
            <a:ext cx="8581542" cy="1100685"/>
          </a:xfrm>
          <a:prstGeom prst="rect">
            <a:avLst/>
          </a:prstGeom>
          <a:solidFill>
            <a:schemeClr val="accent2">
              <a:lumMod val="75000"/>
            </a:schemeClr>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vert="horz" wrap="square" lIns="91440" tIns="67500" rIns="91440" bIns="67500" rtlCol="0" anchor="t">
            <a:sp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CAPITULO IV</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CONCLUSIONES Y RECOMENDACIONES</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7" name="object 2"/>
          <p:cNvSpPr txBox="1">
            <a:spLocks noGrp="1"/>
          </p:cNvSpPr>
          <p:nvPr>
            <p:ph type="title"/>
          </p:nvPr>
        </p:nvSpPr>
        <p:spPr>
          <a:xfrm>
            <a:off x="1619699" y="2001079"/>
            <a:ext cx="3270353"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square" tIns="67500" bIns="67500">
            <a:spAutoFit/>
          </a:body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CONCLUSIONES</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5229" y="584153"/>
            <a:ext cx="4144997" cy="567206"/>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wrap="square" tIns="67500" bIns="67500">
            <a:spAutoFit/>
          </a:bodyPr>
          <a:lstStyle/>
          <a:p>
            <a:pPr defTabSz="914400">
              <a:spcAft>
                <a:spcPts val="750"/>
              </a:spcAft>
            </a:pPr>
            <a:r>
              <a:rPr lang="en-US" sz="28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RECOMENDACIONES</a:t>
            </a:r>
            <a:endPar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4" name="object 4"/>
          <p:cNvSpPr txBox="1"/>
          <p:nvPr/>
        </p:nvSpPr>
        <p:spPr>
          <a:xfrm>
            <a:off x="1805229" y="1637730"/>
            <a:ext cx="9263105" cy="2879058"/>
          </a:xfrm>
          <a:prstGeom prst="rect">
            <a:avLst/>
          </a:prstGeom>
        </p:spPr>
        <p:txBody>
          <a:bodyPr vert="horz" wrap="square" lIns="0" tIns="12065" rIns="0" bIns="0" rtlCol="0">
            <a:spAutoFit/>
          </a:bodyPr>
          <a:lstStyle>
            <a:defPPr>
              <a:defRPr lang="en-US"/>
            </a:defPPr>
            <a:lvl1pPr marL="12700" algn="just">
              <a:lnSpc>
                <a:spcPct val="150000"/>
              </a:lnSpc>
              <a:spcAft>
                <a:spcPts val="1200"/>
              </a:spcAft>
              <a:defRPr sz="2000" b="1" spc="-10">
                <a:latin typeface="Arial" panose="020B0604020202020204" pitchFamily="34" charset="0"/>
                <a:cs typeface="Arial" panose="020B0604020202020204" pitchFamily="34" charset="0"/>
              </a:defRPr>
            </a:lvl1pPr>
          </a:lstStyle>
          <a:p>
            <a:r>
              <a:rPr lang="es-ES" b="0" dirty="0"/>
              <a:t>XXXXXXXXXXXXXXXXXXXXXXXXXXXXXXXXXXXXXXXXXXXXXXXXXXXXXXXXXXXXXXXXXXXXXXXXXXXXXXXXXXXXXXXXXXXXXXXXXXXXXXXXXXXXXXXXXXXXXXXXXXXXXXXXXXXXXXXXXXXXXXXXXXXXXXXXXXXXXXXXXXXXXXXXXXXXXXXXXXXXXXXXXXXXXXXXXXXXXXXXXXXXXXXXXXXXXXXXXXXXXXXXXXXXXXXXXXXXXXXXXXXXXXXXXXXXXXXXXXXXXXXXXXXXXX</a:t>
            </a:r>
            <a:endParaRPr lang="es-ES" b="0" dirty="0"/>
          </a:p>
          <a:p>
            <a:pPr algn="ctr"/>
            <a:r>
              <a:rPr lang="es-ES" dirty="0"/>
              <a:t>(COPIAR TODAS LAS RECOMENDACIONES)</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2168855" y="2941983"/>
            <a:ext cx="8911687" cy="2822713"/>
          </a:xfrm>
        </p:spPr>
        <p:txBody>
          <a:bodyPr>
            <a:normAutofit/>
          </a:bodyPr>
          <a:lstStyle/>
          <a:p>
            <a:pPr algn="ctr"/>
            <a:r>
              <a:rPr lang="es-ES" b="1" dirty="0"/>
              <a:t>GRACIAS POR SU ATENCIÓN</a:t>
            </a:r>
            <a:br>
              <a:rPr lang="es-ES" dirty="0"/>
            </a:br>
            <a:br>
              <a:rPr lang="es-ES" dirty="0"/>
            </a:br>
            <a:r>
              <a:rPr lang="es-ES" sz="2000" dirty="0"/>
              <a:t>ESCRIBA NOMBRE DE ESTUDIANTE</a:t>
            </a:r>
            <a:br>
              <a:rPr lang="es-ES" sz="2000" dirty="0"/>
            </a:br>
            <a:r>
              <a:rPr lang="es-ES" sz="2000" dirty="0"/>
              <a:t>ESCRIBA NOMBRE DE ESTUDIANTE</a:t>
            </a:r>
            <a:br>
              <a:rPr lang="es-ES" sz="2000" dirty="0"/>
            </a:br>
            <a:br>
              <a:rPr lang="es-ES" sz="2000" dirty="0"/>
            </a:br>
            <a:r>
              <a:rPr lang="es-ES" sz="2000" b="1" dirty="0"/>
              <a:t>POSTULANTES</a:t>
            </a:r>
            <a:br>
              <a:rPr lang="es-ES" sz="2000" b="1" dirty="0"/>
            </a:br>
            <a:r>
              <a:rPr lang="es-ES" sz="2000" b="1" dirty="0"/>
              <a:t>CARRERA SISTEMAS INFORMÁTICOS</a:t>
            </a:r>
            <a:endParaRPr lang="es-BO" b="1" dirty="0"/>
          </a:p>
        </p:txBody>
      </p:sp>
      <p:pic>
        <p:nvPicPr>
          <p:cNvPr id="5" name="Imagen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74797" y="364435"/>
            <a:ext cx="2237972" cy="2577548"/>
          </a:xfrm>
          <a:prstGeom prst="rect">
            <a:avLst/>
          </a:prstGeom>
        </p:spPr>
      </p:pic>
    </p:spTree>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8821</Words>
  <Application>WPS Presentation</Application>
  <PresentationFormat>Panorámica</PresentationFormat>
  <Paragraphs>134</Paragraphs>
  <Slides>19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Wingdings 3</vt:lpstr>
      <vt:lpstr>Symbol</vt:lpstr>
      <vt:lpstr>Arial</vt:lpstr>
      <vt:lpstr>Century Gothic</vt:lpstr>
      <vt:lpstr>Microsoft YaHei</vt:lpstr>
      <vt:lpstr>Arial Unicode MS</vt:lpstr>
      <vt:lpstr>Calibri</vt:lpstr>
      <vt:lpstr>Espiral</vt:lpstr>
      <vt:lpstr>ELABORACION DE UN SITIO WEB PARA EL APOYO EN EL AREA DE CIENCIAS NATURALES/BIOLOGÍA DEDICADO AL CURSO DE 6TOA PRIMARIA DEL COLEGIO SANTA MARIA MAGDALENA POSTEL </vt:lpstr>
      <vt:lpstr>  “Que cada persona aprenda a su ritmo no significa que sea inferior a los demas” Erik Rodolfo Pardo Antezana Ihan Michael Cossio Mollo</vt:lpstr>
      <vt:lpstr>CAPITULO I ASPECTOS GENERALES Y METODOLÓGICOS</vt:lpstr>
      <vt:lpstr>IDENTIFICACION Y FORMULACION DEL PROBLEMA</vt:lpstr>
      <vt:lpstr>OBJETIVO GENERAL</vt:lpstr>
      <vt:lpstr>OBJETIVOS ESPECIFICOS</vt:lpstr>
      <vt:lpstr>JUSTIFICACIÓN TÉCNICA</vt:lpstr>
      <vt:lpstr>PowerPoint 演示文稿</vt:lpstr>
      <vt:lpstr>PowerPoint 演示文稿</vt:lpstr>
      <vt:lpstr> XXXXXXXXXXXXXXXXXXXXXXXXXXXXXXXXXXXXXXXXXXXXXXXXXXXXXXXXXXXXXXXXXXXXXXXXXXXXXXXXXXXXXXXXXXXXXXXXXXXXXXXXXXXXXXXX  (EXPLICAR AMPLIAMENTE COMO SE REALIZO LA PAGINA WEB, EN QUE LENGUAJES DE PROGRAMACION, INSERTAR IMÁGENES QR- LINK DE LA PAGINA WEB)󠇤   (MOSTRAR LA PAGINA WEB REALIZADA Y EXPLICAR EN SU CABALIDAD ENLAZAR EL LINK )</vt:lpstr>
      <vt:lpstr>MOSTRAR PAGINA WEB</vt:lpstr>
      <vt:lpstr>RESULTADOS ESPERADOS</vt:lpstr>
      <vt:lpstr>PowerPoint 演示文稿</vt:lpstr>
      <vt:lpstr>PowerPoint 演示文稿</vt:lpstr>
      <vt:lpstr>PowerPoint 演示文稿</vt:lpstr>
      <vt:lpstr>CRONOGRAMA</vt:lpstr>
      <vt:lpstr>CONCLUSIONES</vt:lpstr>
      <vt:lpstr>RECOMENDACIONES</vt:lpstr>
      <vt:lpstr>GRACIAS POR SU ATENCIÓN  ESCRIBA NOMBRE DE ESTUDIANTE ESCRIBA NOMBRE DE ESTUDIANTE  POSTULANTES CARRERA SISTEMAS INFORMÁTICOS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ADMINISTRACIÓN</dc:title>
  <dc:creator>LENOVO</dc:creator>
  <cp:lastModifiedBy>Ihan Cossio Mollo</cp:lastModifiedBy>
  <cp:revision>117</cp:revision>
  <dcterms:created xsi:type="dcterms:W3CDTF">2022-02-09T22:19:00Z</dcterms:created>
  <dcterms:modified xsi:type="dcterms:W3CDTF">2026-09-16T18:57:00Z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2058-12.1.0.28485</vt:lpwstr>
  </property>
  <property fmtid="{D5CDD505-2E9C-101B-9397-08002B2CF9AE}" pid="3" name="ICV">
    <vt:lpwstr>739599F25DCC49189B53397F81DB33DC_13</vt:lpwstr>
  </property>
</Properties>
</file>